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a8fcde85f74201" /><Relationship Type="http://schemas.openxmlformats.org/officeDocument/2006/relationships/extended-properties" Target="/docProps/app.xml" Id="R00bca9bee03742cc" /><Relationship Type="http://schemas.openxmlformats.org/officeDocument/2006/relationships/officeDocument" Target="/ppt/presentation.xml" Id="R3c315cd8e8da4351" /></Relationships>
</file>

<file path=ppt/presentation.xml><?xml version="1.0" encoding="utf-8"?>
<p:presentation xmlns:p="http://schemas.openxmlformats.org/presentationml/2006/main">
  <p:sldMasterIdLst>
    <p:sldMasterId xmlns:r="http://schemas.openxmlformats.org/officeDocument/2006/relationships" id="2147483648" r:id="R7948ce2e94bd4477"/>
  </p:sldMasterIdLst>
  <p:notesMasterIdLst>
    <p:notesMasterId xmlns:r="http://schemas.openxmlformats.org/officeDocument/2006/relationships" r:id="R5e1f7235aff145d4"/>
  </p:notesMasterIdLst>
  <p:sldIdLst>
    <p:sldId xmlns:r="http://schemas.openxmlformats.org/officeDocument/2006/relationships" id="256" r:id="R34a788109b2f4a9f"/>
    <p:sldId xmlns:r="http://schemas.openxmlformats.org/officeDocument/2006/relationships" id="257" r:id="Rb058951a58ad4abe"/>
    <p:sldId xmlns:r="http://schemas.openxmlformats.org/officeDocument/2006/relationships" id="258" r:id="Rf1d587c6f97a4283"/>
    <p:sldId xmlns:r="http://schemas.openxmlformats.org/officeDocument/2006/relationships" id="259" r:id="R2b6ae0a4fc70483a"/>
    <p:sldId xmlns:r="http://schemas.openxmlformats.org/officeDocument/2006/relationships" id="260" r:id="R1c0172b604674262"/>
    <p:sldId xmlns:r="http://schemas.openxmlformats.org/officeDocument/2006/relationships" id="261" r:id="Rd2e8257811f44910"/>
    <p:sldId xmlns:r="http://schemas.openxmlformats.org/officeDocument/2006/relationships" id="262" r:id="R2aacc28d3ad4478a"/>
    <p:sldId xmlns:r="http://schemas.openxmlformats.org/officeDocument/2006/relationships" id="263" r:id="R3a1faf64ed094144"/>
    <p:sldId xmlns:r="http://schemas.openxmlformats.org/officeDocument/2006/relationships" id="264" r:id="R0d33414d448f4e2e"/>
    <p:sldId xmlns:r="http://schemas.openxmlformats.org/officeDocument/2006/relationships" id="265" r:id="Rc701a7d201b04ce0"/>
    <p:sldId xmlns:r="http://schemas.openxmlformats.org/officeDocument/2006/relationships" id="266" r:id="R5c435064845f4561"/>
    <p:sldId xmlns:r="http://schemas.openxmlformats.org/officeDocument/2006/relationships" id="267" r:id="R540ca879ebfc4a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9b50e29cc74417" /><Relationship Type="http://schemas.openxmlformats.org/officeDocument/2006/relationships/slideMaster" Target="/ppt/slideMasters/slideMaster1.xml" Id="R7948ce2e94bd4477" /><Relationship Type="http://schemas.openxmlformats.org/officeDocument/2006/relationships/notesMaster" Target="/ppt/notesMasters/notesMaster1.xml" Id="R5e1f7235aff145d4" /><Relationship Type="http://schemas.openxmlformats.org/officeDocument/2006/relationships/presProps" Target="/ppt/presProps.xml" Id="R2e07dd4891234f6b" /><Relationship Type="http://schemas.openxmlformats.org/officeDocument/2006/relationships/tableStyles" Target="/ppt/tableStyles.xml" Id="R0fdc3eea8be946d0" /><Relationship Type="http://schemas.openxmlformats.org/officeDocument/2006/relationships/slide" Target="/ppt/slides/slide1.xml" Id="R34a788109b2f4a9f" /><Relationship Type="http://schemas.openxmlformats.org/officeDocument/2006/relationships/slide" Target="/ppt/slides/slide2.xml" Id="Rb058951a58ad4abe" /><Relationship Type="http://schemas.openxmlformats.org/officeDocument/2006/relationships/slide" Target="/ppt/slides/slide3.xml" Id="Rf1d587c6f97a4283" /><Relationship Type="http://schemas.openxmlformats.org/officeDocument/2006/relationships/slide" Target="/ppt/slides/slide4.xml" Id="R2b6ae0a4fc70483a" /><Relationship Type="http://schemas.openxmlformats.org/officeDocument/2006/relationships/slide" Target="/ppt/slides/slide5.xml" Id="R1c0172b604674262" /><Relationship Type="http://schemas.openxmlformats.org/officeDocument/2006/relationships/slide" Target="/ppt/slides/slide6.xml" Id="Rd2e8257811f44910" /><Relationship Type="http://schemas.openxmlformats.org/officeDocument/2006/relationships/slide" Target="/ppt/slides/slide7.xml" Id="R2aacc28d3ad4478a" /><Relationship Type="http://schemas.openxmlformats.org/officeDocument/2006/relationships/slide" Target="/ppt/slides/slide8.xml" Id="R3a1faf64ed094144" /><Relationship Type="http://schemas.openxmlformats.org/officeDocument/2006/relationships/slide" Target="/ppt/slides/slide9.xml" Id="R0d33414d448f4e2e" /><Relationship Type="http://schemas.openxmlformats.org/officeDocument/2006/relationships/slide" Target="/ppt/slides/slide10.xml" Id="Rc701a7d201b04ce0" /><Relationship Type="http://schemas.openxmlformats.org/officeDocument/2006/relationships/slide" Target="/ppt/slides/slide11.xml" Id="R5c435064845f4561" /><Relationship Type="http://schemas.openxmlformats.org/officeDocument/2006/relationships/slide" Target="/ppt/slides/slide12.xml" Id="R540ca879ebfc4a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ba1aab584242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8ca4b8f89d48be" /><Relationship Type="http://schemas.openxmlformats.org/officeDocument/2006/relationships/notesMaster" Target="/ppt/notesMasters/notesMaster1.xml" Id="R19175d0b367f40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20f01574634883" /><Relationship Type="http://schemas.openxmlformats.org/officeDocument/2006/relationships/notesMaster" Target="/ppt/notesMasters/notesMaster1.xml" Id="R40ec4a2fbb514a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ac3a201c1b42d5" /><Relationship Type="http://schemas.openxmlformats.org/officeDocument/2006/relationships/notesMaster" Target="/ppt/notesMasters/notesMaster1.xml" Id="Rc6e8d4bc83254d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9f2a7d7f334056" /><Relationship Type="http://schemas.openxmlformats.org/officeDocument/2006/relationships/notesMaster" Target="/ppt/notesMasters/notesMaster1.xml" Id="R0bb9d07288ea4a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611f7794284a07" /><Relationship Type="http://schemas.openxmlformats.org/officeDocument/2006/relationships/notesMaster" Target="/ppt/notesMasters/notesMaster1.xml" Id="R9a9f7e67d5a943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93ad507a2341d2" /><Relationship Type="http://schemas.openxmlformats.org/officeDocument/2006/relationships/notesMaster" Target="/ppt/notesMasters/notesMaster1.xml" Id="Reeee3bedf0a443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df7051b7fe47b9" /><Relationship Type="http://schemas.openxmlformats.org/officeDocument/2006/relationships/notesMaster" Target="/ppt/notesMasters/notesMaster1.xml" Id="R0207b8af4ebf43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092d0609f4418" /><Relationship Type="http://schemas.openxmlformats.org/officeDocument/2006/relationships/notesMaster" Target="/ppt/notesMasters/notesMaster1.xml" Id="R33e90d8381264b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5a42299e674b7e" /><Relationship Type="http://schemas.openxmlformats.org/officeDocument/2006/relationships/notesMaster" Target="/ppt/notesMasters/notesMaster1.xml" Id="R2908777ff03349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0884b805e0453d" /><Relationship Type="http://schemas.openxmlformats.org/officeDocument/2006/relationships/notesMaster" Target="/ppt/notesMasters/notesMaster1.xml" Id="R1a4e214db8fb40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49f916e6da4bd3" /><Relationship Type="http://schemas.openxmlformats.org/officeDocument/2006/relationships/notesMaster" Target="/ppt/notesMasters/notesMaster1.xml" Id="R07f7820f5f6642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a34fa5a4764fd1" /><Relationship Type="http://schemas.openxmlformats.org/officeDocument/2006/relationships/notesMaster" Target="/ppt/notesMasters/notesMaster1.xml" Id="R0c5ad6e45a5b47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reports a controlled local experiment and does not claim complete model safety.</a:t>
            </a:r>
          </a:p>
          <a:p xmlns:a="http://schemas.openxmlformats.org/drawingml/2006/main">
            <a:r>
              <a:t>Source: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et al. pair 417 harmful prompts with 417 topic-aligned benign prompts across ten categories.</a:t>
            </a:r>
          </a:p>
          <a:p xmlns:a="http://schemas.openxmlformats.org/drawingml/2006/main">
            <a:r>
              <a:t>Source: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metadata and abstract: https://aclanthology.org/2026.findings-acl.20/</a:t>
            </a:r>
          </a:p>
          <a:p xmlns:a="http://schemas.openxmlformats.org/drawingml/2006/main">
            <a:r>
              <a:t>The adaptive TAP values are reported in the paper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PromptInject related work: https://arxiv.org/abs/2211.09527</a:t>
            </a:r>
          </a:p>
          <a:p xmlns:a="http://schemas.openxmlformats.org/drawingml/2006/main">
            <a:r>
              <a:t>Pipeline framing: https://aclanthology.org/2026.findings-acl.20/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garak runs use one generation per prompt and seed 42.</a:t>
            </a:r>
          </a:p>
          <a:p xmlns:a="http://schemas.openxmlformats.org/drawingml/2006/main">
            <a:r>
              <a:t>The full PromptInject configuration contains 256 prompts; the local experiment fixes a 16-prompt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garak: https://github.com/NVIDIA/garak</a:t>
            </a:r>
          </a:p>
          <a:p xmlns:a="http://schemas.openxmlformats.org/drawingml/2006/main">
            <a:r>
              <a:t>garak documentation: https://docs.garak.ai/garak</a:t>
            </a:r>
          </a:p>
          <a:p xmlns:a="http://schemas.openxmlformats.org/drawingml/2006/main">
            <a:r>
              <a:t>Model card: https://huggingface.co/Qwen/Qwen2.5-0.5B-Instruct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garak JSONL reports in experiment/evidence/baseline.</a:t>
            </a:r>
          </a:p>
          <a:p xmlns:a="http://schemas.openxmlformats.org/drawingml/2006/main">
            <a:r>
              <a:t>PromptInject: 7 failures of 16. DAN: 1 failure of 1 according to both DAN and mitigation-bypass detectors.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garak JSONL reports. Manual inspection found one plausible false negative from AttackRogueString because the marker was split into a numbered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filter is implemented in garak-src/garak/generators/guarded_hf.py.</a:t>
            </a:r>
          </a:p>
          <a:p xmlns:a="http://schemas.openxmlformats.org/drawingml/2006/main">
            <a:r>
              <a:t>This is a demonstrator, not a production classifier.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baseline and filtered garak JSONL reports.</a:t>
            </a:r>
          </a:p>
          <a:p xmlns:a="http://schemas.openxmlformats.org/drawingml/2006/main">
            <a:r>
              <a:t>The table separates model responses from detector evaluations. DAN generated one response that was scored by two detectors.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 benign prompts were hand written for this experiment. They are not a representative production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 et al. Jailbreaking Attacks vs. Content Safety Filters. Findings of ACL 2026. doi:10.18653/v1/2026.findings-acl.20</a:t>
            </a:r>
          </a:p>
          <a:p xmlns:a="http://schemas.openxmlformats.org/drawingml/2006/main">
            <a:r>
              <a:t>NVIDIA. garak Generative AI Red-teaming and Assessment Kit. https://github.com/NVIDIA/garak</a:t>
            </a:r>
          </a:p>
          <a:p xmlns:a="http://schemas.openxmlformats.org/drawingml/2006/main">
            <a:r>
              <a:t>Qwen Team. Qwen2.5-0.5B-Instruct model card. https://huggingface.co/Qwen/Qwen2.5-0.5B-Instruct</a:t>
            </a:r>
          </a:p>
          <a:p xmlns:a="http://schemas.openxmlformats.org/drawingml/2006/main">
            <a:r>
              <a:t>Perez and Ribeiro. Ignore Previous Prompt. NeurIPS ML Safety Workshop 2022. arXiv:2211.09527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55cffa2744b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1d6a2a35b741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482009985d48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ab5bd56c7241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2836e7fa844a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434e21049845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0BE8C7-6AB6-423F-94DA-795BFDDBAA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F685CE-E637-4443-B3EF-79EF3027F9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C2427A-1223-4E9F-B09B-AE551C9328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134CF7-2187-4BC6-A3AF-B713D6F7AD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550C15-9977-4784-8315-B06FE99219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33D789-2455-4A47-8D77-EDAD7352FF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645F8A-A903-46B9-94A2-DBBA911C8C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110E8A-BDDA-4527-A24D-2607EE69D1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996CD9-7709-425D-95B1-05CDE8FB73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E72B7D-1260-4A91-B718-200B32EA65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4651e768044d27" /><Relationship Type="http://schemas.openxmlformats.org/officeDocument/2006/relationships/slideLayout" Target="/ppt/slideLayouts/slideLayout1.xml" Id="R22048910c7c34f43" /><Relationship Type="http://schemas.openxmlformats.org/officeDocument/2006/relationships/slideLayout" Target="/ppt/slideLayouts/slideLayout2.xml" Id="Rcdf991342f274d34" /><Relationship Type="http://schemas.openxmlformats.org/officeDocument/2006/relationships/slideLayout" Target="/ppt/slideLayouts/slideLayout3.xml" Id="R2b1e6587a2534842" /><Relationship Type="http://schemas.openxmlformats.org/officeDocument/2006/relationships/slideLayout" Target="/ppt/slideLayouts/slideLayout4.xml" Id="R41df6108d08d44d5" /><Relationship Type="http://schemas.openxmlformats.org/officeDocument/2006/relationships/slideLayout" Target="/ppt/slideLayouts/slideLayout5.xml" Id="Rad60b2711fbc4f6b" /><Relationship Type="http://schemas.openxmlformats.org/officeDocument/2006/relationships/slideLayout" Target="/ppt/slideLayouts/slideLayout6.xml" Id="Rd0e93435911649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048910c7c34f43"/>
    <p:sldLayoutId xmlns:r="http://schemas.openxmlformats.org/officeDocument/2006/relationships" id="2147483650" r:id="Rcdf991342f274d34"/>
    <p:sldLayoutId xmlns:r="http://schemas.openxmlformats.org/officeDocument/2006/relationships" id="2147483651" r:id="R2b1e6587a2534842"/>
    <p:sldLayoutId xmlns:r="http://schemas.openxmlformats.org/officeDocument/2006/relationships" id="2147483652" r:id="R41df6108d08d44d5"/>
    <p:sldLayoutId xmlns:r="http://schemas.openxmlformats.org/officeDocument/2006/relationships" id="2147483653" r:id="Rad60b2711fbc4f6b"/>
    <p:sldLayoutId xmlns:r="http://schemas.openxmlformats.org/officeDocument/2006/relationships" id="2147483654" r:id="Rd0e93435911649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a5b4d8c5b841a6" /><Relationship Type="http://schemas.openxmlformats.org/officeDocument/2006/relationships/image" Target="/ppt/media/image.png" Id="R2d47470783bb4c52" /><Relationship Type="http://schemas.openxmlformats.org/officeDocument/2006/relationships/notesSlide" Target="/ppt/notesSlides/notesSlide1.xml" Id="Reb541b159cb84e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eb4446016a74376" /><Relationship Type="http://schemas.openxmlformats.org/officeDocument/2006/relationships/notesSlide" Target="/ppt/notesSlides/notesSlide2.xml" Id="R8e033eb1e2f14e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14bb3a7fd54e87" /><Relationship Type="http://schemas.openxmlformats.org/officeDocument/2006/relationships/notesSlide" Target="/ppt/notesSlides/notesSlide3.xml" Id="Re7224eade2df4e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fbdade6a3f049c9" /><Relationship Type="http://schemas.openxmlformats.org/officeDocument/2006/relationships/notesSlide" Target="/ppt/notesSlides/notesSlide4.xml" Id="R1219bd6c1dd54c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2aab93d2b049ea" /><Relationship Type="http://schemas.openxmlformats.org/officeDocument/2006/relationships/notesSlide" Target="/ppt/notesSlides/notesSlide5.xml" Id="R18c3d2eb479442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b0c46328f44736" /><Relationship Type="http://schemas.openxmlformats.org/officeDocument/2006/relationships/notesSlide" Target="/ppt/notesSlides/notesSlide6.xml" Id="R77b42a2277c040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10580bccba4dca" /><Relationship Type="http://schemas.openxmlformats.org/officeDocument/2006/relationships/chart" Target="/ppt/slides/charts/chart1.xml" Id="Rf557065ccf134618" /><Relationship Type="http://schemas.openxmlformats.org/officeDocument/2006/relationships/notesSlide" Target="/ppt/notesSlides/notesSlide7.xml" Id="R1a5fb3712ddd43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270993a4dc4563" /><Relationship Type="http://schemas.openxmlformats.org/officeDocument/2006/relationships/notesSlide" Target="/ppt/notesSlides/notesSlide8.xml" Id="R7cded20c7f3a4e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9eda6900c54f44" /><Relationship Type="http://schemas.openxmlformats.org/officeDocument/2006/relationships/notesSlide" Target="/ppt/notesSlides/notesSlide9.xml" Id="R5476f2dd51a44e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aa60ac2eb74701" /><Relationship Type="http://schemas.openxmlformats.org/officeDocument/2006/relationships/notesSlide" Target="/ppt/notesSlides/notesSlide10.xml" Id="Rbcf1c8c439514f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8a4d1bfb254eda" /><Relationship Type="http://schemas.openxmlformats.org/officeDocument/2006/relationships/notesSlide" Target="/ppt/notesSlides/notesSlide11.xml" Id="R1760138fc76249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e0649cce6a4571" /><Relationship Type="http://schemas.openxmlformats.org/officeDocument/2006/relationships/notesSlide" Target="/ppt/notesSlides/notesSlide12.xml" Id="R5846486f7fe144f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Attack success rate</c:v>
          </c:tx>
          <c:spPr>
            <a:solidFill xmlns:a="http://schemas.openxmlformats.org/drawingml/2006/main">
              <a:srgbClr val="D75050"/>
            </a:solidFill>
          </c:spPr>
          <c:invertIfNegative val="0"/>
          <c:cat>
            <c:strRef>
              <c:f>'Chart Data'!$A$2:$A$3</c:f>
              <c:strCache>
                <c:ptCount val="2"/>
                <c:pt idx="0">
                  <c:v>PromptInject</c:v>
                </c:pt>
                <c:pt idx="1">
                  <c:v>DAN 11.0</c:v>
                </c:pt>
              </c:strCache>
            </c:strRef>
          </c:cat>
          <c:val>
            <c:numRef>
              <c:f>'Chart Data'!$B$2:$B$3</c:f>
              <c:numCache>
                <c:formatCode>General</c:formatCode>
                <c:ptCount val="2"/>
                <c:pt idx="0">
                  <c:v>43.75</c:v>
                </c:pt>
                <c:pt idx="1">
                  <c:v>100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02E"/>
                  </a:solidFill>
                  <a:latin typeface="Arial"/>
                  <a:ea typeface="Arial"/>
                  <a:cs typeface="Arial"/>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D7E1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365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b="1">
                <a:solidFill>
                  <a:srgbClr val="10202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1B2C"/>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621B557-901C-45E8-990C-3A13733C60A6}"/>
              </a:ext>
            </a:extLst>
          </p:cNvPr>
          <p:cNvPicPr>
            <a:picLocks xmlns:a="http://schemas.openxmlformats.org/drawingml/2006/main" noChangeAspect="1"/>
          </p:cNvPicPr>
          <p:nvPr/>
        </p:nvPicPr>
        <p:blipFill>
          <a:blip xmlns:r="http://schemas.openxmlformats.org/officeDocument/2006/relationships" xmlns:a="http://schemas.openxmlformats.org/drawingml/2006/main" r:embed="R2d47470783bb4c5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5138A1-3C1C-4297-9B3D-C26073C2F9C8}"/>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081B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A62685-810B-4522-8AE5-7E3CED8919E7}"/>
              </a:ext>
            </a:extLst>
          </p:cNvPr>
          <p:cNvSpPr>
            <a:spLocks xmlns:a="http://schemas.openxmlformats.org/drawingml/2006/main" noGrp="1"/>
          </p:cNvSpPr>
          <p:nvPr/>
        </p:nvSpPr>
        <p:spPr>
          <a:xfrm xmlns:a="http://schemas.openxmlformats.org/drawingml/2006/main">
            <a:off x="685800" y="1428750"/>
            <a:ext cx="533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LLM Safety Evaluation</a:t>
            </a:r>
          </a:p>
        </p:txBody>
      </p:sp>
      <p:sp>
        <p:nvSpPr>
          <p:cNvPr id="4" name="">
            <a:extLst xmlns:a="http://schemas.openxmlformats.org/drawingml/2006/main">
              <a:ext uri="{FF2B5EF4-FFF2-40B4-BE49-F238E27FC236}">
                <a16:creationId xmlns:a16="http://schemas.microsoft.com/office/drawing/2014/main" id="{ECAAFF50-D681-42CC-A71D-6C835A334F7C}"/>
              </a:ext>
            </a:extLst>
          </p:cNvPr>
          <p:cNvSpPr>
            <a:spLocks xmlns:a="http://schemas.openxmlformats.org/drawingml/2006/main" noGrp="1"/>
          </p:cNvSpPr>
          <p:nvPr/>
        </p:nvSpPr>
        <p:spPr>
          <a:xfrm xmlns:a="http://schemas.openxmlformats.org/drawingml/2006/main">
            <a:off x="723900" y="2476500"/>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a:solidFill>
                  <a:srgbClr val="C8E8F3"/>
                </a:solidFill>
                <a:latin typeface="Arial"/>
                <a:ea typeface="Arial"/>
                <a:cs typeface="Arial"/>
              </a:defRPr>
            </a:defPPr>
          </a:lstStyle>
          <a:p xmlns:a="http://schemas.openxmlformats.org/drawingml/2006/main">
            <a:pPr>
              <a:defRPr sz="2025">
                <a:solidFill>
                  <a:srgbClr val="C8E8F3"/>
                </a:solidFill>
                <a:latin typeface="Arial"/>
                <a:ea typeface="Arial"/>
                <a:cs typeface="Arial"/>
              </a:defRPr>
            </a:pPr>
            <a:r>
              <a:rPr sz="2025">
                <a:solidFill>
                  <a:srgbClr val="C8E8F3"/>
                </a:solidFill>
                <a:latin typeface="Arial"/>
                <a:ea typeface="Arial"/>
                <a:cs typeface="Arial"/>
              </a:rPr>
              <a:t>Research review and controlled red teaming with NVIDIA garak</a:t>
            </a:r>
          </a:p>
        </p:txBody>
      </p:sp>
      <p:sp>
        <p:nvSpPr>
          <p:cNvPr id="5" name="">
            <a:extLst xmlns:a="http://schemas.openxmlformats.org/drawingml/2006/main">
              <a:ext uri="{FF2B5EF4-FFF2-40B4-BE49-F238E27FC236}">
                <a16:creationId xmlns:a16="http://schemas.microsoft.com/office/drawing/2014/main" id="{31F8BBE4-6702-432F-8893-D678F78262AB}"/>
              </a:ext>
            </a:extLst>
          </p:cNvPr>
          <p:cNvSpPr>
            <a:spLocks xmlns:a="http://schemas.openxmlformats.org/drawingml/2006/main" noGrp="1"/>
          </p:cNvSpPr>
          <p:nvPr/>
        </p:nvSpPr>
        <p:spPr>
          <a:xfrm xmlns:a="http://schemas.openxmlformats.org/drawingml/2006/main">
            <a:off x="723900" y="53816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a:solidFill>
                  <a:srgbClr val="9FC8D8"/>
                </a:solidFill>
                <a:latin typeface="Arial"/>
                <a:ea typeface="Arial"/>
                <a:cs typeface="Arial"/>
              </a:defRPr>
            </a:defPPr>
          </a:lstStyle>
          <a:p xmlns:a="http://schemas.openxmlformats.org/drawingml/2006/main">
            <a:pPr>
              <a:defRPr sz="1350">
                <a:solidFill>
                  <a:srgbClr val="9FC8D8"/>
                </a:solidFill>
                <a:latin typeface="Arial"/>
                <a:ea typeface="Arial"/>
                <a:cs typeface="Arial"/>
              </a:defRPr>
            </a:pPr>
            <a:r>
              <a:rPr sz="1350">
                <a:solidFill>
                  <a:srgbClr val="9FC8D8"/>
                </a:solidFill>
                <a:latin typeface="Arial"/>
                <a:ea typeface="Arial"/>
                <a:cs typeface="Arial"/>
              </a:rPr>
              <a:t>Selected paper  Xin et al.  ACL Findings 2026</a:t>
            </a:r>
          </a:p>
        </p:txBody>
      </p:sp>
    </p:spTree>
    <p:extLst>
      <p:ext uri="{BB962C8B-B14F-4D97-AF65-F5344CB8AC3E}">
        <p14:creationId xmlns:p14="http://schemas.microsoft.com/office/powerpoint/2010/main" val="3502065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83CFB47-54FB-4086-9840-ADDEEE240F45}"/>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Research problem and motivation</a:t>
            </a:r>
          </a:p>
        </p:txBody>
      </p:sp>
      <p:sp>
        <p:nvSpPr>
          <p:cNvPr id="2" name="">
            <a:extLst xmlns:a="http://schemas.openxmlformats.org/drawingml/2006/main">
              <a:ext uri="{FF2B5EF4-FFF2-40B4-BE49-F238E27FC236}">
                <a16:creationId xmlns:a16="http://schemas.microsoft.com/office/drawing/2014/main" id="{DDCEE038-3EB4-4F34-B26D-562497326206}"/>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F7797F-67A1-4316-A4B1-7E18B160EDC5}"/>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65DCF5F-1C81-4F20-8756-975E65D5FDB8}"/>
              </a:ext>
            </a:extLst>
          </p:cNvPr>
          <p:cNvSpPr>
            <a:spLocks xmlns:a="http://schemas.openxmlformats.org/drawingml/2006/main" noGrp="1"/>
          </p:cNvSpPr>
          <p:nvPr/>
        </p:nvSpPr>
        <p:spPr>
          <a:xfrm xmlns:a="http://schemas.openxmlformats.org/drawingml/2006/main">
            <a:off x="666750" y="1381125"/>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325" b="1">
                <a:solidFill>
                  <a:srgbClr val="1775A8"/>
                </a:solidFill>
                <a:latin typeface="Arial"/>
                <a:ea typeface="Arial"/>
                <a:cs typeface="Arial"/>
              </a:defRPr>
            </a:defPPr>
          </a:lstStyle>
          <a:p xmlns:a="http://schemas.openxmlformats.org/drawingml/2006/main">
            <a:pPr>
              <a:defRPr sz="2325" b="1">
                <a:solidFill>
                  <a:srgbClr val="1775A8"/>
                </a:solidFill>
                <a:latin typeface="Arial"/>
                <a:ea typeface="Arial"/>
                <a:cs typeface="Arial"/>
              </a:defRPr>
            </a:pPr>
            <a:r>
              <a:rPr sz="2325" b="1">
                <a:solidFill>
                  <a:srgbClr val="1775A8"/>
                </a:solidFill>
                <a:latin typeface="Arial"/>
                <a:ea typeface="Arial"/>
                <a:cs typeface="Arial"/>
              </a:rPr>
              <a:t>Model-only testing misses deployment controls</a:t>
            </a:r>
          </a:p>
        </p:txBody>
      </p:sp>
      <p:sp>
        <p:nvSpPr>
          <p:cNvPr id="5" name="">
            <a:extLst xmlns:a="http://schemas.openxmlformats.org/drawingml/2006/main">
              <a:ext uri="{FF2B5EF4-FFF2-40B4-BE49-F238E27FC236}">
                <a16:creationId xmlns:a16="http://schemas.microsoft.com/office/drawing/2014/main" id="{2C2D2653-1A46-429E-976E-0BB9FA098DC8}"/>
              </a:ext>
            </a:extLst>
          </p:cNvPr>
          <p:cNvSpPr>
            <a:spLocks xmlns:a="http://schemas.openxmlformats.org/drawingml/2006/main" noGrp="1"/>
          </p:cNvSpPr>
          <p:nvPr/>
        </p:nvSpPr>
        <p:spPr>
          <a:xfrm xmlns:a="http://schemas.openxmlformats.org/drawingml/2006/main">
            <a:off x="666750" y="1952625"/>
            <a:ext cx="5381625"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jailbreak can defeat model alignment and still fail at the input or output filter. The selected paper measures the complete inference pipeline, where detection quality and false positives both affect safety.</a:t>
            </a:r>
          </a:p>
        </p:txBody>
      </p:sp>
      <p:sp>
        <p:nvSpPr>
          <p:cNvPr id="6" name="">
            <a:extLst xmlns:a="http://schemas.openxmlformats.org/drawingml/2006/main">
              <a:ext uri="{FF2B5EF4-FFF2-40B4-BE49-F238E27FC236}">
                <a16:creationId xmlns:a16="http://schemas.microsoft.com/office/drawing/2014/main" id="{1EFA9076-C538-46B4-8795-0CFEE01CA98F}"/>
              </a:ext>
            </a:extLst>
          </p:cNvPr>
          <p:cNvSpPr>
            <a:spLocks xmlns:a="http://schemas.openxmlformats.org/drawingml/2006/main" noGrp="1"/>
          </p:cNvSpPr>
          <p:nvPr/>
        </p:nvSpPr>
        <p:spPr>
          <a:xfrm xmlns:a="http://schemas.openxmlformats.org/drawingml/2006/main">
            <a:off x="6858000" y="156210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1775A8"/>
                </a:solidFill>
                <a:latin typeface="Arial"/>
                <a:ea typeface="Arial"/>
                <a:cs typeface="Arial"/>
              </a:defRPr>
            </a:defPPr>
          </a:lstStyle>
          <a:p xmlns:a="http://schemas.openxmlformats.org/drawingml/2006/main">
            <a:pPr>
              <a:defRPr sz="4050" b="1">
                <a:solidFill>
                  <a:srgbClr val="1775A8"/>
                </a:solidFill>
                <a:latin typeface="Arial"/>
                <a:ea typeface="Arial"/>
                <a:cs typeface="Arial"/>
              </a:defRPr>
            </a:pPr>
            <a:r>
              <a:rPr sz="4050" b="1">
                <a:solidFill>
                  <a:srgbClr val="1775A8"/>
                </a:solidFill>
                <a:latin typeface="Arial"/>
                <a:ea typeface="Arial"/>
                <a:cs typeface="Arial"/>
              </a:rPr>
              <a:t>834</a:t>
            </a:r>
          </a:p>
        </p:txBody>
      </p:sp>
      <p:sp>
        <p:nvSpPr>
          <p:cNvPr id="7" name="">
            <a:extLst xmlns:a="http://schemas.openxmlformats.org/drawingml/2006/main">
              <a:ext uri="{FF2B5EF4-FFF2-40B4-BE49-F238E27FC236}">
                <a16:creationId xmlns:a16="http://schemas.microsoft.com/office/drawing/2014/main" id="{8D28C9F5-B2E5-40D7-B14F-AA8E695043AA}"/>
              </a:ext>
            </a:extLst>
          </p:cNvPr>
          <p:cNvSpPr>
            <a:spLocks xmlns:a="http://schemas.openxmlformats.org/drawingml/2006/main" noGrp="1"/>
          </p:cNvSpPr>
          <p:nvPr/>
        </p:nvSpPr>
        <p:spPr>
          <a:xfrm xmlns:a="http://schemas.openxmlformats.org/drawingml/2006/main">
            <a:off x="6858000" y="22288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536575"/>
                </a:solidFill>
                <a:latin typeface="Arial"/>
                <a:ea typeface="Arial"/>
                <a:cs typeface="Arial"/>
              </a:defRPr>
            </a:defPPr>
          </a:lstStyle>
          <a:p xmlns:a="http://schemas.openxmlformats.org/drawingml/2006/main">
            <a:pPr>
              <a:defRPr sz="1425">
                <a:solidFill>
                  <a:srgbClr val="536575"/>
                </a:solidFill>
                <a:latin typeface="Arial"/>
                <a:ea typeface="Arial"/>
                <a:cs typeface="Arial"/>
              </a:defRPr>
            </a:pPr>
            <a:r>
              <a:rPr sz="1425">
                <a:solidFill>
                  <a:srgbClr val="536575"/>
                </a:solidFill>
                <a:latin typeface="Arial"/>
                <a:ea typeface="Arial"/>
                <a:cs typeface="Arial"/>
              </a:rPr>
              <a:t>paired harmful and benign prompts</a:t>
            </a:r>
          </a:p>
        </p:txBody>
      </p:sp>
      <p:sp>
        <p:nvSpPr>
          <p:cNvPr id="8" name="">
            <a:extLst xmlns:a="http://schemas.openxmlformats.org/drawingml/2006/main">
              <a:ext uri="{FF2B5EF4-FFF2-40B4-BE49-F238E27FC236}">
                <a16:creationId xmlns:a16="http://schemas.microsoft.com/office/drawing/2014/main" id="{5EB75ED3-179F-4F90-B43C-6C99045BC43B}"/>
              </a:ext>
            </a:extLst>
          </p:cNvPr>
          <p:cNvSpPr>
            <a:spLocks xmlns:a="http://schemas.openxmlformats.org/drawingml/2006/main" noGrp="1"/>
          </p:cNvSpPr>
          <p:nvPr/>
        </p:nvSpPr>
        <p:spPr>
          <a:xfrm xmlns:a="http://schemas.openxmlformats.org/drawingml/2006/main">
            <a:off x="9144000" y="1562100"/>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35B6D4"/>
                </a:solidFill>
                <a:latin typeface="Arial"/>
                <a:ea typeface="Arial"/>
                <a:cs typeface="Arial"/>
              </a:defRPr>
            </a:defPPr>
          </a:lstStyle>
          <a:p xmlns:a="http://schemas.openxmlformats.org/drawingml/2006/main">
            <a:pPr>
              <a:defRPr sz="4050" b="1">
                <a:solidFill>
                  <a:srgbClr val="35B6D4"/>
                </a:solidFill>
                <a:latin typeface="Arial"/>
                <a:ea typeface="Arial"/>
                <a:cs typeface="Arial"/>
              </a:defRPr>
            </a:pPr>
            <a:r>
              <a:rPr sz="4050" b="1">
                <a:solidFill>
                  <a:srgbClr val="35B6D4"/>
                </a:solidFill>
                <a:latin typeface="Arial"/>
                <a:ea typeface="Arial"/>
                <a:cs typeface="Arial"/>
              </a:rPr>
              <a:t>10</a:t>
            </a:r>
          </a:p>
        </p:txBody>
      </p:sp>
      <p:sp>
        <p:nvSpPr>
          <p:cNvPr id="9" name="">
            <a:extLst xmlns:a="http://schemas.openxmlformats.org/drawingml/2006/main">
              <a:ext uri="{FF2B5EF4-FFF2-40B4-BE49-F238E27FC236}">
                <a16:creationId xmlns:a16="http://schemas.microsoft.com/office/drawing/2014/main" id="{C72DE4E8-AE87-4207-B989-D4470D0FA9A6}"/>
              </a:ext>
            </a:extLst>
          </p:cNvPr>
          <p:cNvSpPr>
            <a:spLocks xmlns:a="http://schemas.openxmlformats.org/drawingml/2006/main" noGrp="1"/>
          </p:cNvSpPr>
          <p:nvPr/>
        </p:nvSpPr>
        <p:spPr>
          <a:xfrm xmlns:a="http://schemas.openxmlformats.org/drawingml/2006/main">
            <a:off x="9144000" y="22288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536575"/>
                </a:solidFill>
                <a:latin typeface="Arial"/>
                <a:ea typeface="Arial"/>
                <a:cs typeface="Arial"/>
              </a:defRPr>
            </a:defPPr>
          </a:lstStyle>
          <a:p xmlns:a="http://schemas.openxmlformats.org/drawingml/2006/main">
            <a:pPr>
              <a:defRPr sz="1425">
                <a:solidFill>
                  <a:srgbClr val="536575"/>
                </a:solidFill>
                <a:latin typeface="Arial"/>
                <a:ea typeface="Arial"/>
                <a:cs typeface="Arial"/>
              </a:defRPr>
            </a:pPr>
            <a:r>
              <a:rPr sz="1425">
                <a:solidFill>
                  <a:srgbClr val="536575"/>
                </a:solidFill>
                <a:latin typeface="Arial"/>
                <a:ea typeface="Arial"/>
                <a:cs typeface="Arial"/>
              </a:rPr>
              <a:t>safety categories</a:t>
            </a:r>
          </a:p>
        </p:txBody>
      </p:sp>
      <p:sp>
        <p:nvSpPr>
          <p:cNvPr id="10" name="">
            <a:extLst xmlns:a="http://schemas.openxmlformats.org/drawingml/2006/main">
              <a:ext uri="{FF2B5EF4-FFF2-40B4-BE49-F238E27FC236}">
                <a16:creationId xmlns:a16="http://schemas.microsoft.com/office/drawing/2014/main" id="{D25488E1-BCA3-44FB-8CFD-15E557D3595F}"/>
              </a:ext>
            </a:extLst>
          </p:cNvPr>
          <p:cNvSpPr>
            <a:spLocks xmlns:a="http://schemas.openxmlformats.org/drawingml/2006/main" noGrp="1"/>
          </p:cNvSpPr>
          <p:nvPr/>
        </p:nvSpPr>
        <p:spPr>
          <a:xfrm xmlns:a="http://schemas.openxmlformats.org/drawingml/2006/main">
            <a:off x="6667500" y="3190875"/>
            <a:ext cx="428625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5FD206-CAF0-43E8-B956-CE5BC287DFD5}"/>
              </a:ext>
            </a:extLst>
          </p:cNvPr>
          <p:cNvSpPr>
            <a:spLocks xmlns:a="http://schemas.openxmlformats.org/drawingml/2006/main" noGrp="1"/>
          </p:cNvSpPr>
          <p:nvPr/>
        </p:nvSpPr>
        <p:spPr>
          <a:xfrm xmlns:a="http://schemas.openxmlformats.org/drawingml/2006/main">
            <a:off x="6858000" y="35242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Research question</a:t>
            </a:r>
          </a:p>
        </p:txBody>
      </p:sp>
      <p:sp>
        <p:nvSpPr>
          <p:cNvPr id="12" name="">
            <a:extLst xmlns:a="http://schemas.openxmlformats.org/drawingml/2006/main">
              <a:ext uri="{FF2B5EF4-FFF2-40B4-BE49-F238E27FC236}">
                <a16:creationId xmlns:a16="http://schemas.microsoft.com/office/drawing/2014/main" id="{59CC45CE-D7EB-4C9E-9996-7705DAEE43E7}"/>
              </a:ext>
            </a:extLst>
          </p:cNvPr>
          <p:cNvSpPr>
            <a:spLocks xmlns:a="http://schemas.openxmlformats.org/drawingml/2006/main" noGrp="1"/>
          </p:cNvSpPr>
          <p:nvPr/>
        </p:nvSpPr>
        <p:spPr>
          <a:xfrm xmlns:a="http://schemas.openxmlformats.org/drawingml/2006/main">
            <a:off x="6858000" y="4000500"/>
            <a:ext cx="4286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How much attack success remains after content safety filters screen the request and response?</a:t>
            </a:r>
          </a:p>
        </p:txBody>
      </p:sp>
      <p:sp>
        <p:nvSpPr>
          <p:cNvPr id="13" name="">
            <a:extLst xmlns:a="http://schemas.openxmlformats.org/drawingml/2006/main">
              <a:ext uri="{FF2B5EF4-FFF2-40B4-BE49-F238E27FC236}">
                <a16:creationId xmlns:a16="http://schemas.microsoft.com/office/drawing/2014/main" id="{E34D7E8C-0E1B-4E7E-A668-A4424372C305}"/>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9075333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BEABAD-8BB3-4574-8F78-B8E7A42797BF}"/>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Selected scientific paper</a:t>
            </a:r>
          </a:p>
        </p:txBody>
      </p:sp>
      <p:sp>
        <p:nvSpPr>
          <p:cNvPr id="2" name="">
            <a:extLst xmlns:a="http://schemas.openxmlformats.org/drawingml/2006/main">
              <a:ext uri="{FF2B5EF4-FFF2-40B4-BE49-F238E27FC236}">
                <a16:creationId xmlns:a16="http://schemas.microsoft.com/office/drawing/2014/main" id="{8A42DD42-ED65-42BB-A434-FDAD7DA9BDD5}"/>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760586-B09F-4098-BDD1-7B249A1E58D5}"/>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EE2D854F-811D-4404-93B3-FA830E7F900C}"/>
              </a:ext>
            </a:extLst>
          </p:cNvPr>
          <p:cNvSpPr>
            <a:spLocks xmlns:a="http://schemas.openxmlformats.org/drawingml/2006/main" noGrp="1"/>
          </p:cNvSpPr>
          <p:nvPr/>
        </p:nvSpPr>
        <p:spPr>
          <a:xfrm xmlns:a="http://schemas.openxmlformats.org/drawingml/2006/main">
            <a:off x="666750" y="1381125"/>
            <a:ext cx="733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81B2C"/>
                </a:solidFill>
                <a:latin typeface="Arial"/>
                <a:ea typeface="Arial"/>
                <a:cs typeface="Arial"/>
              </a:defRPr>
            </a:defPPr>
          </a:lstStyle>
          <a:p xmlns:a="http://schemas.openxmlformats.org/drawingml/2006/main">
            <a:pPr>
              <a:defRPr sz="2550" b="1">
                <a:solidFill>
                  <a:srgbClr val="081B2C"/>
                </a:solidFill>
                <a:latin typeface="Arial"/>
                <a:ea typeface="Arial"/>
                <a:cs typeface="Arial"/>
              </a:defRPr>
            </a:pPr>
            <a:r>
              <a:rPr sz="2550" b="1">
                <a:solidFill>
                  <a:srgbClr val="081B2C"/>
                </a:solidFill>
                <a:latin typeface="Arial"/>
                <a:ea typeface="Arial"/>
                <a:cs typeface="Arial"/>
              </a:rPr>
              <a:t>Jailbreaking Attacks vs. Content Safety Filters</a:t>
            </a:r>
          </a:p>
        </p:txBody>
      </p:sp>
      <p:sp>
        <p:nvSpPr>
          <p:cNvPr id="5" name="">
            <a:extLst xmlns:a="http://schemas.openxmlformats.org/drawingml/2006/main">
              <a:ext uri="{FF2B5EF4-FFF2-40B4-BE49-F238E27FC236}">
                <a16:creationId xmlns:a16="http://schemas.microsoft.com/office/drawing/2014/main" id="{5706217C-6BA2-434B-8891-36E94EFA9A92}"/>
              </a:ext>
            </a:extLst>
          </p:cNvPr>
          <p:cNvSpPr>
            <a:spLocks xmlns:a="http://schemas.openxmlformats.org/drawingml/2006/main" noGrp="1"/>
          </p:cNvSpPr>
          <p:nvPr/>
        </p:nvSpPr>
        <p:spPr>
          <a:xfrm xmlns:a="http://schemas.openxmlformats.org/drawingml/2006/main">
            <a:off x="666750" y="20002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Xin, Chen, Yang, Backes, and Zhang  |  Findings of ACL 2026</a:t>
            </a:r>
          </a:p>
        </p:txBody>
      </p:sp>
      <p:sp>
        <p:nvSpPr>
          <p:cNvPr id="6" name="">
            <a:extLst xmlns:a="http://schemas.openxmlformats.org/drawingml/2006/main">
              <a:ext uri="{FF2B5EF4-FFF2-40B4-BE49-F238E27FC236}">
                <a16:creationId xmlns:a16="http://schemas.microsoft.com/office/drawing/2014/main" id="{72C62EFF-7594-4419-B746-F29C12B238A7}"/>
              </a:ext>
            </a:extLst>
          </p:cNvPr>
          <p:cNvSpPr>
            <a:spLocks xmlns:a="http://schemas.openxmlformats.org/drawingml/2006/main" noGrp="1"/>
          </p:cNvSpPr>
          <p:nvPr/>
        </p:nvSpPr>
        <p:spPr>
          <a:xfrm xmlns:a="http://schemas.openxmlformats.org/drawingml/2006/main">
            <a:off x="666750" y="2714625"/>
            <a:ext cx="6667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Ten jailbreak methods tested against open and proprietary LLMs</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Input and output filters evaluated as part of the inference pipeline</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Metrics include attack success, detection, precision, recall, latency, and cost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Adaptive TAP increased success against OpenAI moderation from 28.4% to 88.3%</a:t>
            </a:r>
          </a:p>
        </p:txBody>
      </p:sp>
      <p:sp>
        <p:nvSpPr>
          <p:cNvPr id="7" name="">
            <a:extLst xmlns:a="http://schemas.openxmlformats.org/drawingml/2006/main">
              <a:ext uri="{FF2B5EF4-FFF2-40B4-BE49-F238E27FC236}">
                <a16:creationId xmlns:a16="http://schemas.microsoft.com/office/drawing/2014/main" id="{D033F649-73CA-44CA-8D1A-ADFF05A5540B}"/>
              </a:ext>
            </a:extLst>
          </p:cNvPr>
          <p:cNvSpPr>
            <a:spLocks xmlns:a="http://schemas.openxmlformats.org/drawingml/2006/main" noGrp="1"/>
          </p:cNvSpPr>
          <p:nvPr/>
        </p:nvSpPr>
        <p:spPr>
          <a:xfrm xmlns:a="http://schemas.openxmlformats.org/drawingml/2006/main">
            <a:off x="8096250" y="26670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D75050"/>
                </a:solidFill>
                <a:latin typeface="Arial"/>
                <a:ea typeface="Arial"/>
                <a:cs typeface="Arial"/>
              </a:defRPr>
            </a:defPPr>
          </a:lstStyle>
          <a:p xmlns:a="http://schemas.openxmlformats.org/drawingml/2006/main">
            <a:pPr>
              <a:defRPr sz="1500" b="1">
                <a:solidFill>
                  <a:srgbClr val="D75050"/>
                </a:solidFill>
                <a:latin typeface="Arial"/>
                <a:ea typeface="Arial"/>
                <a:cs typeface="Arial"/>
              </a:defRPr>
            </a:pPr>
            <a:r>
              <a:rPr sz="1500" b="1">
                <a:solidFill>
                  <a:srgbClr val="D75050"/>
                </a:solidFill>
                <a:latin typeface="Arial"/>
                <a:ea typeface="Arial"/>
                <a:cs typeface="Arial"/>
              </a:rPr>
              <a:t>Core finding</a:t>
            </a:r>
          </a:p>
        </p:txBody>
      </p:sp>
      <p:sp>
        <p:nvSpPr>
          <p:cNvPr id="8" name="">
            <a:extLst xmlns:a="http://schemas.openxmlformats.org/drawingml/2006/main">
              <a:ext uri="{FF2B5EF4-FFF2-40B4-BE49-F238E27FC236}">
                <a16:creationId xmlns:a16="http://schemas.microsoft.com/office/drawing/2014/main" id="{44137DB6-C5C8-4DB9-81A8-8581D94BF934}"/>
              </a:ext>
            </a:extLst>
          </p:cNvPr>
          <p:cNvSpPr>
            <a:spLocks xmlns:a="http://schemas.openxmlformats.org/drawingml/2006/main" noGrp="1"/>
          </p:cNvSpPr>
          <p:nvPr/>
        </p:nvSpPr>
        <p:spPr>
          <a:xfrm xmlns:a="http://schemas.openxmlformats.org/drawingml/2006/main">
            <a:off x="7905750" y="3190875"/>
            <a:ext cx="3190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1">
                <a:solidFill>
                  <a:srgbClr val="081B2C"/>
                </a:solidFill>
                <a:latin typeface="Arial"/>
                <a:ea typeface="Arial"/>
                <a:cs typeface="Arial"/>
              </a:defRPr>
            </a:defPPr>
          </a:lstStyle>
          <a:p xmlns:a="http://schemas.openxmlformats.org/drawingml/2006/main">
            <a:pPr>
              <a:defRPr sz="2175" b="1">
                <a:solidFill>
                  <a:srgbClr val="081B2C"/>
                </a:solidFill>
                <a:latin typeface="Arial"/>
                <a:ea typeface="Arial"/>
                <a:cs typeface="Arial"/>
              </a:defRPr>
            </a:pPr>
            <a:r>
              <a:rPr sz="2175" b="1">
                <a:solidFill>
                  <a:srgbClr val="081B2C"/>
                </a:solidFill>
                <a:latin typeface="Arial"/>
                <a:ea typeface="Arial"/>
                <a:cs typeface="Arial"/>
              </a:rPr>
              <a:t>Filters catch many attacks, but precision and adaptive resistance remain unresolved</a:t>
            </a:r>
          </a:p>
        </p:txBody>
      </p:sp>
      <p:sp>
        <p:nvSpPr>
          <p:cNvPr id="9" name="">
            <a:extLst xmlns:a="http://schemas.openxmlformats.org/drawingml/2006/main">
              <a:ext uri="{FF2B5EF4-FFF2-40B4-BE49-F238E27FC236}">
                <a16:creationId xmlns:a16="http://schemas.microsoft.com/office/drawing/2014/main" id="{76674217-FAB8-40F1-A14B-6380E3623F79}"/>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Peer reviewed  |  ACL Anthology ID 2026.findings-acl.20</a:t>
            </a:r>
          </a:p>
        </p:txBody>
      </p:sp>
    </p:spTree>
    <p:extLst>
      <p:ext uri="{BB962C8B-B14F-4D97-AF65-F5344CB8AC3E}">
        <p14:creationId xmlns:p14="http://schemas.microsoft.com/office/powerpoint/2010/main" val="17290036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216E71-8E9A-448E-9C2B-7F063CFDD8D7}"/>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Threat model and related work</a:t>
            </a:r>
          </a:p>
        </p:txBody>
      </p:sp>
      <p:sp>
        <p:nvSpPr>
          <p:cNvPr id="2" name="">
            <a:extLst xmlns:a="http://schemas.openxmlformats.org/drawingml/2006/main">
              <a:ext uri="{FF2B5EF4-FFF2-40B4-BE49-F238E27FC236}">
                <a16:creationId xmlns:a16="http://schemas.microsoft.com/office/drawing/2014/main" id="{C85273AE-32C1-451F-8979-00ED7B564869}"/>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5276BD-63F4-4885-AB19-F03D7AE5D02B}"/>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BBC92F85-EE17-4625-AD1D-E0D7F00E8BD0}"/>
              </a:ext>
            </a:extLst>
          </p:cNvPr>
          <p:cNvSpPr>
            <a:spLocks xmlns:a="http://schemas.openxmlformats.org/drawingml/2006/main" noGrp="1"/>
          </p:cNvSpPr>
          <p:nvPr/>
        </p:nvSpPr>
        <p:spPr>
          <a:xfrm xmlns:a="http://schemas.openxmlformats.org/drawingml/2006/main">
            <a:off x="666750" y="2095500"/>
            <a:ext cx="2000250" cy="895350"/>
          </a:xfrm>
          <a:prstGeom xmlns:a="http://schemas.openxmlformats.org/drawingml/2006/main" prst="roundRect">
            <a:avLst>
              <a:gd name="adj" fmla="val 8511"/>
            </a:avLst>
          </a:prstGeom>
          <a:solidFill xmlns:a="http://schemas.openxmlformats.org/drawingml/2006/main">
            <a:srgbClr val="D75050"/>
          </a:solidFill>
          <a:ln xmlns:a="http://schemas.openxmlformats.org/drawingml/2006/main" w="9525">
            <a:solidFill>
              <a:srgbClr val="D75050"/>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Attacker controlled</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5FD3F29C-73AD-49F2-92E7-C5A7C37288BE}"/>
              </a:ext>
            </a:extLst>
          </p:cNvPr>
          <p:cNvSpPr>
            <a:spLocks xmlns:a="http://schemas.openxmlformats.org/drawingml/2006/main" noGrp="1"/>
          </p:cNvSpPr>
          <p:nvPr/>
        </p:nvSpPr>
        <p:spPr>
          <a:xfrm xmlns:a="http://schemas.openxmlformats.org/drawingml/2006/main">
            <a:off x="28575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6" name="">
            <a:extLst xmlns:a="http://schemas.openxmlformats.org/drawingml/2006/main">
              <a:ext uri="{FF2B5EF4-FFF2-40B4-BE49-F238E27FC236}">
                <a16:creationId xmlns:a16="http://schemas.microsoft.com/office/drawing/2014/main" id="{E151A59D-8293-484F-8561-3242EE4D75F8}"/>
              </a:ext>
            </a:extLst>
          </p:cNvPr>
          <p:cNvSpPr>
            <a:spLocks xmlns:a="http://schemas.openxmlformats.org/drawingml/2006/main" noGrp="1"/>
          </p:cNvSpPr>
          <p:nvPr/>
        </p:nvSpPr>
        <p:spPr>
          <a:xfrm xmlns:a="http://schemas.openxmlformats.org/drawingml/2006/main">
            <a:off x="3714750" y="2095500"/>
            <a:ext cx="180975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filter</a:t>
            </a:r>
          </a:p>
        </p:txBody>
      </p:sp>
      <p:sp>
        <p:nvSpPr>
          <p:cNvPr id="7" name="">
            <a:extLst xmlns:a="http://schemas.openxmlformats.org/drawingml/2006/main">
              <a:ext uri="{FF2B5EF4-FFF2-40B4-BE49-F238E27FC236}">
                <a16:creationId xmlns:a16="http://schemas.microsoft.com/office/drawing/2014/main" id="{F3B502C8-A03A-4416-8DE4-FB22192BFD4D}"/>
              </a:ext>
            </a:extLst>
          </p:cNvPr>
          <p:cNvSpPr>
            <a:spLocks xmlns:a="http://schemas.openxmlformats.org/drawingml/2006/main" noGrp="1"/>
          </p:cNvSpPr>
          <p:nvPr/>
        </p:nvSpPr>
        <p:spPr>
          <a:xfrm xmlns:a="http://schemas.openxmlformats.org/drawingml/2006/main">
            <a:off x="57150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8" name="">
            <a:extLst xmlns:a="http://schemas.openxmlformats.org/drawingml/2006/main">
              <a:ext uri="{FF2B5EF4-FFF2-40B4-BE49-F238E27FC236}">
                <a16:creationId xmlns:a16="http://schemas.microsoft.com/office/drawing/2014/main" id="{EB2AF086-8087-4B52-9FD4-EAD458BE222D}"/>
              </a:ext>
            </a:extLst>
          </p:cNvPr>
          <p:cNvSpPr>
            <a:spLocks xmlns:a="http://schemas.openxmlformats.org/drawingml/2006/main" noGrp="1"/>
          </p:cNvSpPr>
          <p:nvPr/>
        </p:nvSpPr>
        <p:spPr>
          <a:xfrm xmlns:a="http://schemas.openxmlformats.org/drawingml/2006/main">
            <a:off x="6572250" y="2095500"/>
            <a:ext cx="1809750" cy="895350"/>
          </a:xfrm>
          <a:prstGeom xmlns:a="http://schemas.openxmlformats.org/drawingml/2006/main" prst="roundRect">
            <a:avLst>
              <a:gd name="adj" fmla="val 8511"/>
            </a:avLst>
          </a:prstGeom>
          <a:solidFill xmlns:a="http://schemas.openxmlformats.org/drawingml/2006/main">
            <a:srgbClr val="12324A"/>
          </a:solidFill>
          <a:ln xmlns:a="http://schemas.openxmlformats.org/drawingml/2006/main" w="9525">
            <a:solidFill>
              <a:srgbClr val="12324A"/>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Aligned</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LLM</a:t>
            </a:r>
          </a:p>
        </p:txBody>
      </p:sp>
      <p:sp>
        <p:nvSpPr>
          <p:cNvPr id="9" name="">
            <a:extLst xmlns:a="http://schemas.openxmlformats.org/drawingml/2006/main">
              <a:ext uri="{FF2B5EF4-FFF2-40B4-BE49-F238E27FC236}">
                <a16:creationId xmlns:a16="http://schemas.microsoft.com/office/drawing/2014/main" id="{2C2EDAC8-2B0D-45F1-9E4C-43A24A854647}"/>
              </a:ext>
            </a:extLst>
          </p:cNvPr>
          <p:cNvSpPr>
            <a:spLocks xmlns:a="http://schemas.openxmlformats.org/drawingml/2006/main" noGrp="1"/>
          </p:cNvSpPr>
          <p:nvPr/>
        </p:nvSpPr>
        <p:spPr>
          <a:xfrm xmlns:a="http://schemas.openxmlformats.org/drawingml/2006/main">
            <a:off x="8572500" y="2381250"/>
            <a:ext cx="66675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10" name="">
            <a:extLst xmlns:a="http://schemas.openxmlformats.org/drawingml/2006/main">
              <a:ext uri="{FF2B5EF4-FFF2-40B4-BE49-F238E27FC236}">
                <a16:creationId xmlns:a16="http://schemas.microsoft.com/office/drawing/2014/main" id="{D8F39800-F860-4E8D-B23C-BE2E74F82E2A}"/>
              </a:ext>
            </a:extLst>
          </p:cNvPr>
          <p:cNvSpPr>
            <a:spLocks xmlns:a="http://schemas.openxmlformats.org/drawingml/2006/main" noGrp="1"/>
          </p:cNvSpPr>
          <p:nvPr/>
        </p:nvSpPr>
        <p:spPr>
          <a:xfrm xmlns:a="http://schemas.openxmlformats.org/drawingml/2006/main">
            <a:off x="9429750" y="2095500"/>
            <a:ext cx="180975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Output</a:t>
            </a:r>
          </a:p>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filter</a:t>
            </a:r>
          </a:p>
        </p:txBody>
      </p:sp>
      <p:sp>
        <p:nvSpPr>
          <p:cNvPr id="11" name="">
            <a:extLst xmlns:a="http://schemas.openxmlformats.org/drawingml/2006/main">
              <a:ext uri="{FF2B5EF4-FFF2-40B4-BE49-F238E27FC236}">
                <a16:creationId xmlns:a16="http://schemas.microsoft.com/office/drawing/2014/main" id="{6EFDCE61-A679-413A-B1BF-8EFC21863A98}"/>
              </a:ext>
            </a:extLst>
          </p:cNvPr>
          <p:cNvSpPr>
            <a:spLocks xmlns:a="http://schemas.openxmlformats.org/drawingml/2006/main" noGrp="1"/>
          </p:cNvSpPr>
          <p:nvPr/>
        </p:nvSpPr>
        <p:spPr>
          <a:xfrm xmlns:a="http://schemas.openxmlformats.org/drawingml/2006/main">
            <a:off x="666750" y="37147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Attack surfaces</a:t>
            </a:r>
          </a:p>
        </p:txBody>
      </p:sp>
      <p:sp>
        <p:nvSpPr>
          <p:cNvPr id="12" name="">
            <a:extLst xmlns:a="http://schemas.openxmlformats.org/drawingml/2006/main">
              <a:ext uri="{FF2B5EF4-FFF2-40B4-BE49-F238E27FC236}">
                <a16:creationId xmlns:a16="http://schemas.microsoft.com/office/drawing/2014/main" id="{F778F850-795D-4546-96C0-4D2C904B55CB}"/>
              </a:ext>
            </a:extLst>
          </p:cNvPr>
          <p:cNvSpPr>
            <a:spLocks xmlns:a="http://schemas.openxmlformats.org/drawingml/2006/main" noGrp="1"/>
          </p:cNvSpPr>
          <p:nvPr/>
        </p:nvSpPr>
        <p:spPr>
          <a:xfrm xmlns:a="http://schemas.openxmlformats.org/drawingml/2006/main">
            <a:off x="666750" y="4191000"/>
            <a:ext cx="5524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a:solidFill>
                  <a:srgbClr val="10202E"/>
                </a:solidFill>
                <a:latin typeface="Arial"/>
                <a:ea typeface="Arial"/>
                <a:cs typeface="Arial"/>
              </a:defRPr>
            </a:defPPr>
          </a:lstStyle>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Direct prompt injection and role-play jailbreaks</a:t>
            </a:r>
          </a:p>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Obfuscated, multilingual, adaptive, and multi-turn variants</a:t>
            </a:r>
          </a:p>
          <a:p xmlns:a="http://schemas.openxmlformats.org/drawingml/2006/main">
            <a:pPr marL="228600" indent="-114300">
              <a:spcAft>
                <a:spcPts val="1000"/>
              </a:spcAft>
              <a:buChar char="•"/>
              <a:defRPr sz="1650">
                <a:solidFill>
                  <a:srgbClr val="10202E"/>
                </a:solidFill>
                <a:latin typeface="Arial"/>
                <a:ea typeface="Arial"/>
                <a:cs typeface="Arial"/>
              </a:defRPr>
            </a:pPr>
            <a:r>
              <a:rPr sz="1650">
                <a:solidFill>
                  <a:srgbClr val="10202E"/>
                </a:solidFill>
                <a:latin typeface="Arial"/>
                <a:ea typeface="Arial"/>
                <a:cs typeface="Arial"/>
              </a:rPr>
              <a:t>False positives that reject legitimate security-related requests</a:t>
            </a:r>
          </a:p>
        </p:txBody>
      </p:sp>
      <p:sp>
        <p:nvSpPr>
          <p:cNvPr id="13" name="">
            <a:extLst xmlns:a="http://schemas.openxmlformats.org/drawingml/2006/main">
              <a:ext uri="{FF2B5EF4-FFF2-40B4-BE49-F238E27FC236}">
                <a16:creationId xmlns:a16="http://schemas.microsoft.com/office/drawing/2014/main" id="{FE8B934B-A881-451E-A6A3-46BB78E65A64}"/>
              </a:ext>
            </a:extLst>
          </p:cNvPr>
          <p:cNvSpPr>
            <a:spLocks xmlns:a="http://schemas.openxmlformats.org/drawingml/2006/main" noGrp="1"/>
          </p:cNvSpPr>
          <p:nvPr/>
        </p:nvSpPr>
        <p:spPr>
          <a:xfrm xmlns:a="http://schemas.openxmlformats.org/drawingml/2006/main">
            <a:off x="7334250" y="37147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Security property</a:t>
            </a:r>
          </a:p>
        </p:txBody>
      </p:sp>
      <p:sp>
        <p:nvSpPr>
          <p:cNvPr id="14" name="">
            <a:extLst xmlns:a="http://schemas.openxmlformats.org/drawingml/2006/main">
              <a:ext uri="{FF2B5EF4-FFF2-40B4-BE49-F238E27FC236}">
                <a16:creationId xmlns:a16="http://schemas.microsoft.com/office/drawing/2014/main" id="{E1C5E399-0526-42F6-B697-7E79392BAFFC}"/>
              </a:ext>
            </a:extLst>
          </p:cNvPr>
          <p:cNvSpPr>
            <a:spLocks xmlns:a="http://schemas.openxmlformats.org/drawingml/2006/main" noGrp="1"/>
          </p:cNvSpPr>
          <p:nvPr/>
        </p:nvSpPr>
        <p:spPr>
          <a:xfrm xmlns:a="http://schemas.openxmlformats.org/drawingml/2006/main">
            <a:off x="7334250" y="419100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Trusted instructions must retain priority over attacker-controlled text across the full pipeline.</a:t>
            </a:r>
          </a:p>
        </p:txBody>
      </p:sp>
      <p:sp>
        <p:nvSpPr>
          <p:cNvPr id="15" name="">
            <a:extLst xmlns:a="http://schemas.openxmlformats.org/drawingml/2006/main">
              <a:ext uri="{FF2B5EF4-FFF2-40B4-BE49-F238E27FC236}">
                <a16:creationId xmlns:a16="http://schemas.microsoft.com/office/drawing/2014/main" id="{5C16455C-6DBF-42FE-B565-7C0DAEBFA49B}"/>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5836077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084DE5-F8C1-4E96-BB07-5A45C43C8EE8}"/>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Experimental methodology</a:t>
            </a:r>
          </a:p>
        </p:txBody>
      </p:sp>
      <p:sp>
        <p:nvSpPr>
          <p:cNvPr id="2" name="">
            <a:extLst xmlns:a="http://schemas.openxmlformats.org/drawingml/2006/main">
              <a:ext uri="{FF2B5EF4-FFF2-40B4-BE49-F238E27FC236}">
                <a16:creationId xmlns:a16="http://schemas.microsoft.com/office/drawing/2014/main" id="{A263BAE0-1843-48D0-8AF0-54F3E36CA703}"/>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E50FB33-8787-4FD7-9C33-E0D0BD6DD483}"/>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93B94F5-79A1-4B1B-A161-2469C9036A09}"/>
              </a:ext>
            </a:extLst>
          </p:cNvPr>
          <p:cNvSpPr>
            <a:spLocks xmlns:a="http://schemas.openxmlformats.org/drawingml/2006/main" noGrp="1"/>
          </p:cNvSpPr>
          <p:nvPr/>
        </p:nvSpPr>
        <p:spPr>
          <a:xfrm xmlns:a="http://schemas.openxmlformats.org/drawingml/2006/main">
            <a:off x="952500" y="1809750"/>
            <a:ext cx="2571750" cy="895350"/>
          </a:xfrm>
          <a:prstGeom xmlns:a="http://schemas.openxmlformats.org/drawingml/2006/main" prst="roundRect">
            <a:avLst>
              <a:gd name="adj" fmla="val 8511"/>
            </a:avLst>
          </a:prstGeom>
          <a:solidFill xmlns:a="http://schemas.openxmlformats.org/drawingml/2006/main">
            <a:srgbClr val="081B2C"/>
          </a:solidFill>
          <a:ln xmlns:a="http://schemas.openxmlformats.org/drawingml/2006/main" w="9525">
            <a:solidFill>
              <a:srgbClr val="081B2C"/>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  Baseline</a:t>
            </a:r>
          </a:p>
        </p:txBody>
      </p:sp>
      <p:sp>
        <p:nvSpPr>
          <p:cNvPr id="5" name="">
            <a:extLst xmlns:a="http://schemas.openxmlformats.org/drawingml/2006/main">
              <a:ext uri="{FF2B5EF4-FFF2-40B4-BE49-F238E27FC236}">
                <a16:creationId xmlns:a16="http://schemas.microsoft.com/office/drawing/2014/main" id="{8121AAA2-74FB-462C-80D5-6D6303F01573}"/>
              </a:ext>
            </a:extLst>
          </p:cNvPr>
          <p:cNvSpPr>
            <a:spLocks xmlns:a="http://schemas.openxmlformats.org/drawingml/2006/main" noGrp="1"/>
          </p:cNvSpPr>
          <p:nvPr/>
        </p:nvSpPr>
        <p:spPr>
          <a:xfrm xmlns:a="http://schemas.openxmlformats.org/drawingml/2006/main">
            <a:off x="3762375" y="2095500"/>
            <a:ext cx="809625"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6" name="">
            <a:extLst xmlns:a="http://schemas.openxmlformats.org/drawingml/2006/main">
              <a:ext uri="{FF2B5EF4-FFF2-40B4-BE49-F238E27FC236}">
                <a16:creationId xmlns:a16="http://schemas.microsoft.com/office/drawing/2014/main" id="{5A20397E-694C-478C-AF3A-0CDA3506C7CD}"/>
              </a:ext>
            </a:extLst>
          </p:cNvPr>
          <p:cNvSpPr>
            <a:spLocks xmlns:a="http://schemas.openxmlformats.org/drawingml/2006/main" noGrp="1"/>
          </p:cNvSpPr>
          <p:nvPr/>
        </p:nvSpPr>
        <p:spPr>
          <a:xfrm xmlns:a="http://schemas.openxmlformats.org/drawingml/2006/main">
            <a:off x="4810125" y="1809750"/>
            <a:ext cx="257175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2  Mitigation</a:t>
            </a:r>
          </a:p>
        </p:txBody>
      </p:sp>
      <p:sp>
        <p:nvSpPr>
          <p:cNvPr id="7" name="">
            <a:extLst xmlns:a="http://schemas.openxmlformats.org/drawingml/2006/main">
              <a:ext uri="{FF2B5EF4-FFF2-40B4-BE49-F238E27FC236}">
                <a16:creationId xmlns:a16="http://schemas.microsoft.com/office/drawing/2014/main" id="{5BA9CBE9-1229-4EA1-8A32-AE7D1D330767}"/>
              </a:ext>
            </a:extLst>
          </p:cNvPr>
          <p:cNvSpPr>
            <a:spLocks xmlns:a="http://schemas.openxmlformats.org/drawingml/2006/main" noGrp="1"/>
          </p:cNvSpPr>
          <p:nvPr/>
        </p:nvSpPr>
        <p:spPr>
          <a:xfrm xmlns:a="http://schemas.openxmlformats.org/drawingml/2006/main">
            <a:off x="7620000" y="2095500"/>
            <a:ext cx="809625"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8" name="">
            <a:extLst xmlns:a="http://schemas.openxmlformats.org/drawingml/2006/main">
              <a:ext uri="{FF2B5EF4-FFF2-40B4-BE49-F238E27FC236}">
                <a16:creationId xmlns:a16="http://schemas.microsoft.com/office/drawing/2014/main" id="{105DF5F2-6D4D-4C8C-B1F4-360F5DABFBE8}"/>
              </a:ext>
            </a:extLst>
          </p:cNvPr>
          <p:cNvSpPr>
            <a:spLocks xmlns:a="http://schemas.openxmlformats.org/drawingml/2006/main" noGrp="1"/>
          </p:cNvSpPr>
          <p:nvPr/>
        </p:nvSpPr>
        <p:spPr>
          <a:xfrm xmlns:a="http://schemas.openxmlformats.org/drawingml/2006/main">
            <a:off x="8667750" y="1809750"/>
            <a:ext cx="257175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3  Repeat</a:t>
            </a:r>
          </a:p>
        </p:txBody>
      </p:sp>
      <p:sp>
        <p:nvSpPr>
          <p:cNvPr id="9" name="">
            <a:extLst xmlns:a="http://schemas.openxmlformats.org/drawingml/2006/main">
              <a:ext uri="{FF2B5EF4-FFF2-40B4-BE49-F238E27FC236}">
                <a16:creationId xmlns:a16="http://schemas.microsoft.com/office/drawing/2014/main" id="{D2D25B96-FA40-42C2-912A-E2EEC65BF55B}"/>
              </a:ext>
            </a:extLst>
          </p:cNvPr>
          <p:cNvSpPr>
            <a:spLocks xmlns:a="http://schemas.openxmlformats.org/drawingml/2006/main" noGrp="1"/>
          </p:cNvSpPr>
          <p:nvPr/>
        </p:nvSpPr>
        <p:spPr>
          <a:xfrm xmlns:a="http://schemas.openxmlformats.org/drawingml/2006/main">
            <a:off x="1000125" y="30956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10202E"/>
                </a:solidFill>
                <a:latin typeface="Arial"/>
                <a:ea typeface="Arial"/>
                <a:cs typeface="Arial"/>
              </a:defRPr>
            </a:defPPr>
          </a:lstStyle>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PromptInject</a:t>
            </a:r>
          </a:p>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16 sampled prompts</a:t>
            </a:r>
          </a:p>
        </p:txBody>
      </p:sp>
      <p:sp>
        <p:nvSpPr>
          <p:cNvPr id="10" name="">
            <a:extLst xmlns:a="http://schemas.openxmlformats.org/drawingml/2006/main">
              <a:ext uri="{FF2B5EF4-FFF2-40B4-BE49-F238E27FC236}">
                <a16:creationId xmlns:a16="http://schemas.microsoft.com/office/drawing/2014/main" id="{6E0C19B4-6CD3-4C0E-B331-C03838EFBA26}"/>
              </a:ext>
            </a:extLst>
          </p:cNvPr>
          <p:cNvSpPr>
            <a:spLocks xmlns:a="http://schemas.openxmlformats.org/drawingml/2006/main" noGrp="1"/>
          </p:cNvSpPr>
          <p:nvPr/>
        </p:nvSpPr>
        <p:spPr>
          <a:xfrm xmlns:a="http://schemas.openxmlformats.org/drawingml/2006/main">
            <a:off x="4905375" y="30956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10202E"/>
                </a:solidFill>
                <a:latin typeface="Arial"/>
                <a:ea typeface="Arial"/>
                <a:cs typeface="Arial"/>
              </a:defRPr>
            </a:defPPr>
          </a:lstStyle>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System prompt pilot</a:t>
            </a:r>
          </a:p>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then input filter</a:t>
            </a:r>
          </a:p>
        </p:txBody>
      </p:sp>
      <p:sp>
        <p:nvSpPr>
          <p:cNvPr id="11" name="">
            <a:extLst xmlns:a="http://schemas.openxmlformats.org/drawingml/2006/main">
              <a:ext uri="{FF2B5EF4-FFF2-40B4-BE49-F238E27FC236}">
                <a16:creationId xmlns:a16="http://schemas.microsoft.com/office/drawing/2014/main" id="{45458D7B-01B6-45A6-A7E0-C485A8A34D66}"/>
              </a:ext>
            </a:extLst>
          </p:cNvPr>
          <p:cNvSpPr>
            <a:spLocks xmlns:a="http://schemas.openxmlformats.org/drawingml/2006/main" noGrp="1"/>
          </p:cNvSpPr>
          <p:nvPr/>
        </p:nvSpPr>
        <p:spPr>
          <a:xfrm xmlns:a="http://schemas.openxmlformats.org/drawingml/2006/main">
            <a:off x="8763000" y="309562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10202E"/>
                </a:solidFill>
                <a:latin typeface="Arial"/>
                <a:ea typeface="Arial"/>
                <a:cs typeface="Arial"/>
              </a:defRPr>
            </a:defPPr>
          </a:lstStyle>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Same seed, sample,</a:t>
            </a:r>
          </a:p>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and decoding settings</a:t>
            </a:r>
          </a:p>
        </p:txBody>
      </p:sp>
      <p:sp>
        <p:nvSpPr>
          <p:cNvPr id="12" name="">
            <a:extLst xmlns:a="http://schemas.openxmlformats.org/drawingml/2006/main">
              <a:ext uri="{FF2B5EF4-FFF2-40B4-BE49-F238E27FC236}">
                <a16:creationId xmlns:a16="http://schemas.microsoft.com/office/drawing/2014/main" id="{1E3743AC-75D6-4354-B2EE-38C8A851CB96}"/>
              </a:ext>
            </a:extLst>
          </p:cNvPr>
          <p:cNvSpPr>
            <a:spLocks xmlns:a="http://schemas.openxmlformats.org/drawingml/2006/main" noGrp="1"/>
          </p:cNvSpPr>
          <p:nvPr/>
        </p:nvSpPr>
        <p:spPr>
          <a:xfrm xmlns:a="http://schemas.openxmlformats.org/drawingml/2006/main">
            <a:off x="1000125" y="43338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10202E"/>
                </a:solidFill>
                <a:latin typeface="Arial"/>
                <a:ea typeface="Arial"/>
                <a:cs typeface="Arial"/>
              </a:defRPr>
            </a:defPPr>
          </a:lstStyle>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DAN 11.0</a:t>
            </a:r>
          </a:p>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1 standardized prompt</a:t>
            </a:r>
          </a:p>
        </p:txBody>
      </p:sp>
      <p:sp>
        <p:nvSpPr>
          <p:cNvPr id="13" name="">
            <a:extLst xmlns:a="http://schemas.openxmlformats.org/drawingml/2006/main">
              <a:ext uri="{FF2B5EF4-FFF2-40B4-BE49-F238E27FC236}">
                <a16:creationId xmlns:a16="http://schemas.microsoft.com/office/drawing/2014/main" id="{2980BB9F-A9B0-494C-938C-312163B08877}"/>
              </a:ext>
            </a:extLst>
          </p:cNvPr>
          <p:cNvSpPr>
            <a:spLocks xmlns:a="http://schemas.openxmlformats.org/drawingml/2006/main" noGrp="1"/>
          </p:cNvSpPr>
          <p:nvPr/>
        </p:nvSpPr>
        <p:spPr>
          <a:xfrm xmlns:a="http://schemas.openxmlformats.org/drawingml/2006/main">
            <a:off x="4905375" y="43338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10202E"/>
                </a:solidFill>
                <a:latin typeface="Arial"/>
                <a:ea typeface="Arial"/>
                <a:cs typeface="Arial"/>
              </a:defRPr>
            </a:defPPr>
          </a:lstStyle>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Benign filter check</a:t>
            </a:r>
          </a:p>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20 prompts</a:t>
            </a:r>
          </a:p>
        </p:txBody>
      </p:sp>
      <p:sp>
        <p:nvSpPr>
          <p:cNvPr id="14" name="">
            <a:extLst xmlns:a="http://schemas.openxmlformats.org/drawingml/2006/main">
              <a:ext uri="{FF2B5EF4-FFF2-40B4-BE49-F238E27FC236}">
                <a16:creationId xmlns:a16="http://schemas.microsoft.com/office/drawing/2014/main" id="{F3565F1F-162D-420D-93C2-B3805C3C6C8C}"/>
              </a:ext>
            </a:extLst>
          </p:cNvPr>
          <p:cNvSpPr>
            <a:spLocks xmlns:a="http://schemas.openxmlformats.org/drawingml/2006/main" noGrp="1"/>
          </p:cNvSpPr>
          <p:nvPr/>
        </p:nvSpPr>
        <p:spPr>
          <a:xfrm xmlns:a="http://schemas.openxmlformats.org/drawingml/2006/main">
            <a:off x="8763000" y="4333875"/>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10202E"/>
                </a:solidFill>
                <a:latin typeface="Arial"/>
                <a:ea typeface="Arial"/>
                <a:cs typeface="Arial"/>
              </a:defRPr>
            </a:defPPr>
          </a:lstStyle>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Compare reported failures</a:t>
            </a:r>
          </a:p>
          <a:p xmlns:a="http://schemas.openxmlformats.org/drawingml/2006/main">
            <a:pPr>
              <a:defRPr sz="1800" b="1">
                <a:solidFill>
                  <a:srgbClr val="10202E"/>
                </a:solidFill>
                <a:latin typeface="Arial"/>
                <a:ea typeface="Arial"/>
                <a:cs typeface="Arial"/>
              </a:defRPr>
            </a:pPr>
            <a:r>
              <a:rPr sz="1800" b="1">
                <a:solidFill>
                  <a:srgbClr val="10202E"/>
                </a:solidFill>
                <a:latin typeface="Arial"/>
                <a:ea typeface="Arial"/>
                <a:cs typeface="Arial"/>
              </a:rPr>
              <a:t>and manual evidence</a:t>
            </a:r>
          </a:p>
        </p:txBody>
      </p:sp>
      <p:sp>
        <p:nvSpPr>
          <p:cNvPr id="15" name="">
            <a:extLst xmlns:a="http://schemas.openxmlformats.org/drawingml/2006/main">
              <a:ext uri="{FF2B5EF4-FFF2-40B4-BE49-F238E27FC236}">
                <a16:creationId xmlns:a16="http://schemas.microsoft.com/office/drawing/2014/main" id="{3BFE4B68-25A6-4B1F-9AD7-40A5A1F71473}"/>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672410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AEFFB7-DC4A-446B-AAFC-2E9AE93EE2FE}"/>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Model and tool configuration</a:t>
            </a:r>
          </a:p>
        </p:txBody>
      </p:sp>
      <p:sp>
        <p:nvSpPr>
          <p:cNvPr id="2" name="">
            <a:extLst xmlns:a="http://schemas.openxmlformats.org/drawingml/2006/main">
              <a:ext uri="{FF2B5EF4-FFF2-40B4-BE49-F238E27FC236}">
                <a16:creationId xmlns:a16="http://schemas.microsoft.com/office/drawing/2014/main" id="{DBF6BC31-CF00-48BD-AA30-7E2E36208FBA}"/>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011C87-0F06-42D4-B5A4-E8A7F66456BF}"/>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6D16808C-9FB9-4E6E-9B19-F758A1D63A3B}"/>
              </a:ext>
            </a:extLst>
          </p:cNvPr>
          <p:cNvSpPr>
            <a:spLocks xmlns:a="http://schemas.openxmlformats.org/drawingml/2006/main" noGrp="1"/>
          </p:cNvSpPr>
          <p:nvPr/>
        </p:nvSpPr>
        <p:spPr>
          <a:xfrm xmlns:a="http://schemas.openxmlformats.org/drawingml/2006/main">
            <a:off x="666750" y="147637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Target</a:t>
            </a:r>
          </a:p>
        </p:txBody>
      </p:sp>
      <p:sp>
        <p:nvSpPr>
          <p:cNvPr id="5" name="">
            <a:extLst xmlns:a="http://schemas.openxmlformats.org/drawingml/2006/main">
              <a:ext uri="{FF2B5EF4-FFF2-40B4-BE49-F238E27FC236}">
                <a16:creationId xmlns:a16="http://schemas.microsoft.com/office/drawing/2014/main" id="{E38BB3B9-E548-451D-9C18-5CDD65639699}"/>
              </a:ext>
            </a:extLst>
          </p:cNvPr>
          <p:cNvSpPr>
            <a:spLocks xmlns:a="http://schemas.openxmlformats.org/drawingml/2006/main" noGrp="1"/>
          </p:cNvSpPr>
          <p:nvPr/>
        </p:nvSpPr>
        <p:spPr>
          <a:xfrm xmlns:a="http://schemas.openxmlformats.org/drawingml/2006/main">
            <a:off x="666750" y="1952625"/>
            <a:ext cx="4476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081B2C"/>
                </a:solidFill>
                <a:latin typeface="Arial"/>
                <a:ea typeface="Arial"/>
                <a:cs typeface="Arial"/>
              </a:defRPr>
            </a:defPPr>
          </a:lstStyle>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Qwen2.5-0.5B-Instruct</a:t>
            </a:r>
          </a:p>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Local Hugging Face pipeline</a:t>
            </a:r>
          </a:p>
          <a:p xmlns:a="http://schemas.openxmlformats.org/drawingml/2006/main">
            <a:pPr>
              <a:defRPr sz="2100" b="1">
                <a:solidFill>
                  <a:srgbClr val="081B2C"/>
                </a:solidFill>
                <a:latin typeface="Arial"/>
                <a:ea typeface="Arial"/>
                <a:cs typeface="Arial"/>
              </a:defRPr>
            </a:pPr>
            <a:r>
              <a:rPr sz="2100" b="1">
                <a:solidFill>
                  <a:srgbClr val="081B2C"/>
                </a:solidFill>
                <a:latin typeface="Arial"/>
                <a:ea typeface="Arial"/>
                <a:cs typeface="Arial"/>
              </a:rPr>
              <a:t>FP16 on CUDA</a:t>
            </a:r>
          </a:p>
        </p:txBody>
      </p:sp>
      <p:sp>
        <p:nvSpPr>
          <p:cNvPr id="6" name="">
            <a:extLst xmlns:a="http://schemas.openxmlformats.org/drawingml/2006/main">
              <a:ext uri="{FF2B5EF4-FFF2-40B4-BE49-F238E27FC236}">
                <a16:creationId xmlns:a16="http://schemas.microsoft.com/office/drawing/2014/main" id="{D5B85764-FEEC-45DC-B27E-4384A28F9061}"/>
              </a:ext>
            </a:extLst>
          </p:cNvPr>
          <p:cNvSpPr>
            <a:spLocks xmlns:a="http://schemas.openxmlformats.org/drawingml/2006/main" noGrp="1"/>
          </p:cNvSpPr>
          <p:nvPr/>
        </p:nvSpPr>
        <p:spPr>
          <a:xfrm xmlns:a="http://schemas.openxmlformats.org/drawingml/2006/main">
            <a:off x="666750" y="376237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Scanner</a:t>
            </a:r>
          </a:p>
        </p:txBody>
      </p:sp>
      <p:sp>
        <p:nvSpPr>
          <p:cNvPr id="7" name="">
            <a:extLst xmlns:a="http://schemas.openxmlformats.org/drawingml/2006/main">
              <a:ext uri="{FF2B5EF4-FFF2-40B4-BE49-F238E27FC236}">
                <a16:creationId xmlns:a16="http://schemas.microsoft.com/office/drawing/2014/main" id="{F3AE5F1B-5266-47BC-A577-5BC5C4E28761}"/>
              </a:ext>
            </a:extLst>
          </p:cNvPr>
          <p:cNvSpPr>
            <a:spLocks xmlns:a="http://schemas.openxmlformats.org/drawingml/2006/main" noGrp="1"/>
          </p:cNvSpPr>
          <p:nvPr/>
        </p:nvSpPr>
        <p:spPr>
          <a:xfrm xmlns:a="http://schemas.openxmlformats.org/drawingml/2006/main">
            <a:off x="666750" y="42386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025" b="1">
                <a:solidFill>
                  <a:srgbClr val="081B2C"/>
                </a:solidFill>
                <a:latin typeface="Arial"/>
                <a:ea typeface="Arial"/>
                <a:cs typeface="Arial"/>
              </a:defRPr>
            </a:defPPr>
          </a:lstStyle>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NVIDIA garak 0.17.1rc1</a:t>
            </a:r>
          </a:p>
          <a:p xmlns:a="http://schemas.openxmlformats.org/drawingml/2006/main">
            <a:pPr>
              <a:defRPr sz="2025" b="1">
                <a:solidFill>
                  <a:srgbClr val="081B2C"/>
                </a:solidFill>
                <a:latin typeface="Arial"/>
                <a:ea typeface="Arial"/>
                <a:cs typeface="Arial"/>
              </a:defRPr>
            </a:pPr>
            <a:r>
              <a:rPr sz="2025" b="1">
                <a:solidFill>
                  <a:srgbClr val="081B2C"/>
                </a:solidFill>
                <a:latin typeface="Arial"/>
                <a:ea typeface="Arial"/>
                <a:cs typeface="Arial"/>
              </a:rPr>
              <a:t>Official repository commit 346497a</a:t>
            </a:r>
          </a:p>
        </p:txBody>
      </p:sp>
      <p:sp>
        <p:nvSpPr>
          <p:cNvPr id="8" name="">
            <a:extLst xmlns:a="http://schemas.openxmlformats.org/drawingml/2006/main">
              <a:ext uri="{FF2B5EF4-FFF2-40B4-BE49-F238E27FC236}">
                <a16:creationId xmlns:a16="http://schemas.microsoft.com/office/drawing/2014/main" id="{44E5E79E-4633-4F6E-8AD4-A7CCC2AB27E6}"/>
              </a:ext>
            </a:extLst>
          </p:cNvPr>
          <p:cNvSpPr>
            <a:spLocks xmlns:a="http://schemas.openxmlformats.org/drawingml/2006/main" noGrp="1"/>
          </p:cNvSpPr>
          <p:nvPr/>
        </p:nvSpPr>
        <p:spPr>
          <a:xfrm xmlns:a="http://schemas.openxmlformats.org/drawingml/2006/main">
            <a:off x="5953125" y="1428750"/>
            <a:ext cx="19050" cy="40957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9DF2DCE-2555-44CD-AAE8-FD50D4E34644}"/>
              </a:ext>
            </a:extLst>
          </p:cNvPr>
          <p:cNvSpPr>
            <a:spLocks xmlns:a="http://schemas.openxmlformats.org/drawingml/2006/main" noGrp="1"/>
          </p:cNvSpPr>
          <p:nvPr/>
        </p:nvSpPr>
        <p:spPr>
          <a:xfrm xmlns:a="http://schemas.openxmlformats.org/drawingml/2006/main">
            <a:off x="6667500" y="147637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1775A8"/>
                </a:solidFill>
                <a:latin typeface="Arial"/>
                <a:ea typeface="Arial"/>
                <a:cs typeface="Arial"/>
              </a:defRPr>
            </a:defPPr>
          </a:lstStyle>
          <a:p xmlns:a="http://schemas.openxmlformats.org/drawingml/2006/main">
            <a:pPr>
              <a:defRPr sz="1650" b="1">
                <a:solidFill>
                  <a:srgbClr val="1775A8"/>
                </a:solidFill>
                <a:latin typeface="Arial"/>
                <a:ea typeface="Arial"/>
                <a:cs typeface="Arial"/>
              </a:defRPr>
            </a:pPr>
            <a:r>
              <a:rPr sz="1650" b="1">
                <a:solidFill>
                  <a:srgbClr val="1775A8"/>
                </a:solidFill>
                <a:latin typeface="Arial"/>
                <a:ea typeface="Arial"/>
                <a:cs typeface="Arial"/>
              </a:rPr>
              <a:t>Fixed settings</a:t>
            </a:r>
          </a:p>
        </p:txBody>
      </p:sp>
      <p:sp>
        <p:nvSpPr>
          <p:cNvPr id="10" name="">
            <a:extLst xmlns:a="http://schemas.openxmlformats.org/drawingml/2006/main">
              <a:ext uri="{FF2B5EF4-FFF2-40B4-BE49-F238E27FC236}">
                <a16:creationId xmlns:a16="http://schemas.microsoft.com/office/drawing/2014/main" id="{00C2802B-284F-4B7A-BD6F-088C927B0519}"/>
              </a:ext>
            </a:extLst>
          </p:cNvPr>
          <p:cNvSpPr>
            <a:spLocks xmlns:a="http://schemas.openxmlformats.org/drawingml/2006/main" noGrp="1"/>
          </p:cNvSpPr>
          <p:nvPr/>
        </p:nvSpPr>
        <p:spPr>
          <a:xfrm xmlns:a="http://schemas.openxmlformats.org/drawingml/2006/main">
            <a:off x="6667500" y="2047875"/>
            <a:ext cx="4476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Seed 42</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One generation per prompt</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Prompt cap 16</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Maximum output 64 tokens unless a probe overrides it</a:t>
            </a:r>
          </a:p>
          <a:p xmlns:a="http://schemas.openxmlformats.org/drawingml/2006/main">
            <a:pPr marL="228600" indent="-114300">
              <a:spcAft>
                <a:spcPts val="1000"/>
              </a:spcAft>
              <a:buChar char="•"/>
              <a:defRPr sz="1875">
                <a:solidFill>
                  <a:srgbClr val="10202E"/>
                </a:solidFill>
                <a:latin typeface="Arial"/>
                <a:ea typeface="Arial"/>
                <a:cs typeface="Arial"/>
              </a:defRPr>
            </a:pPr>
            <a:r>
              <a:rPr sz="1875">
                <a:solidFill>
                  <a:srgbClr val="10202E"/>
                </a:solidFill>
                <a:latin typeface="Arial"/>
                <a:ea typeface="Arial"/>
                <a:cs typeface="Arial"/>
              </a:rPr>
              <a:t>Windows  |  GTX 1660  |  6 GB VRAM</a:t>
            </a:r>
          </a:p>
        </p:txBody>
      </p:sp>
      <p:sp>
        <p:nvSpPr>
          <p:cNvPr id="11" name="">
            <a:extLst xmlns:a="http://schemas.openxmlformats.org/drawingml/2006/main">
              <a:ext uri="{FF2B5EF4-FFF2-40B4-BE49-F238E27FC236}">
                <a16:creationId xmlns:a16="http://schemas.microsoft.com/office/drawing/2014/main" id="{23C42D29-8F96-405E-AE8A-4A8BBD54BF0F}"/>
              </a:ext>
            </a:extLst>
          </p:cNvPr>
          <p:cNvSpPr>
            <a:spLocks xmlns:a="http://schemas.openxmlformats.org/drawingml/2006/main" noGrp="1"/>
          </p:cNvSpPr>
          <p:nvPr/>
        </p:nvSpPr>
        <p:spPr>
          <a:xfrm xmlns:a="http://schemas.openxmlformats.org/drawingml/2006/main">
            <a:off x="666750" y="5667375"/>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i="1">
                <a:solidFill>
                  <a:srgbClr val="536575"/>
                </a:solidFill>
                <a:latin typeface="Arial"/>
                <a:ea typeface="Arial"/>
                <a:cs typeface="Arial"/>
              </a:defRPr>
            </a:defPPr>
          </a:lstStyle>
          <a:p xmlns:a="http://schemas.openxmlformats.org/drawingml/2006/main">
            <a:pPr>
              <a:defRPr sz="1425" i="1">
                <a:solidFill>
                  <a:srgbClr val="536575"/>
                </a:solidFill>
                <a:latin typeface="Arial"/>
                <a:ea typeface="Arial"/>
                <a:cs typeface="Arial"/>
              </a:defRPr>
            </a:pPr>
            <a:r>
              <a:rPr sz="1425" i="1">
                <a:solidFill>
                  <a:srgbClr val="536575"/>
                </a:solidFill>
                <a:latin typeface="Arial"/>
                <a:ea typeface="Arial"/>
                <a:cs typeface="Arial"/>
              </a:rPr>
              <a:t>Scope note  The paper evaluates Qwen2.5-7B-Instruct; this experiment uses the smaller 0.5B model.</a:t>
            </a:r>
          </a:p>
        </p:txBody>
      </p:sp>
      <p:sp>
        <p:nvSpPr>
          <p:cNvPr id="12" name="">
            <a:extLst xmlns:a="http://schemas.openxmlformats.org/drawingml/2006/main">
              <a:ext uri="{FF2B5EF4-FFF2-40B4-BE49-F238E27FC236}">
                <a16:creationId xmlns:a16="http://schemas.microsoft.com/office/drawing/2014/main" id="{C1824D36-62C8-4E2A-B128-BB8B2919FBF9}"/>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510845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70D55B-DE0D-4706-A51B-88BDE72D70B7}"/>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Baseline results</a:t>
            </a:r>
          </a:p>
        </p:txBody>
      </p:sp>
      <p:sp>
        <p:nvSpPr>
          <p:cNvPr id="2" name="">
            <a:extLst xmlns:a="http://schemas.openxmlformats.org/drawingml/2006/main">
              <a:ext uri="{FF2B5EF4-FFF2-40B4-BE49-F238E27FC236}">
                <a16:creationId xmlns:a16="http://schemas.microsoft.com/office/drawing/2014/main" id="{032F24BA-36D9-4432-BC16-CFE41C2F6236}"/>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ECA3C02-AA9B-46C4-B303-9B0154BCFD2B}"/>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07</a:t>
            </a:r>
          </a:p>
        </p:txBody>
      </p:sp>
      <p:graphicFrame>
        <p:nvGraphicFramePr>
          <p:cNvPr id="4" name="Chart">
            <a:extLst xmlns:a="http://schemas.openxmlformats.org/drawingml/2006/main">
              <a:ext uri="{FF2B5EF4-FFF2-40B4-BE49-F238E27FC236}">
                <a16:creationId xmlns:a16="http://schemas.microsoft.com/office/drawing/2014/main" id="{6C90F475-7B4A-41B1-9284-ADD3E28F3FFA}"/>
              </a:ext>
            </a:extLst>
          </p:cNvPr>
          <p:cNvGraphicFramePr/>
          <p:nvPr/>
        </p:nvGraphicFramePr>
        <p:xfrm>
          <a:off xmlns:a="http://schemas.openxmlformats.org/drawingml/2006/main" x="809625" y="1476375"/>
          <a:ext xmlns:a="http://schemas.openxmlformats.org/drawingml/2006/main" cx="6953250" cy="4000500"/>
        </p:xfrm>
        <a:graphic xmlns:a="http://schemas.openxmlformats.org/drawingml/2006/main">
          <a:graphicData uri="http://schemas.openxmlformats.org/drawingml/2006/chart">
            <c:chart xmlns:r="http://schemas.openxmlformats.org/officeDocument/2006/relationships" xmlns:c="http://schemas.openxmlformats.org/drawingml/2006/chart" r:id="Rf557065ccf134618"/>
          </a:graphicData>
        </a:graphic>
      </p:graphicFrame>
      <p:sp>
        <p:nvSpPr>
          <p:cNvPr id="5" name="">
            <a:extLst xmlns:a="http://schemas.openxmlformats.org/drawingml/2006/main">
              <a:ext uri="{FF2B5EF4-FFF2-40B4-BE49-F238E27FC236}">
                <a16:creationId xmlns:a16="http://schemas.microsoft.com/office/drawing/2014/main" id="{B6519B9D-532E-4700-BF7D-0ECC1312780A}"/>
              </a:ext>
            </a:extLst>
          </p:cNvPr>
          <p:cNvSpPr>
            <a:spLocks xmlns:a="http://schemas.openxmlformats.org/drawingml/2006/main" noGrp="1"/>
          </p:cNvSpPr>
          <p:nvPr/>
        </p:nvSpPr>
        <p:spPr>
          <a:xfrm xmlns:a="http://schemas.openxmlformats.org/drawingml/2006/main">
            <a:off x="8429625" y="18097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D75050"/>
                </a:solidFill>
                <a:latin typeface="Arial"/>
                <a:ea typeface="Arial"/>
                <a:cs typeface="Arial"/>
              </a:defRPr>
            </a:defPPr>
          </a:lstStyle>
          <a:p xmlns:a="http://schemas.openxmlformats.org/drawingml/2006/main">
            <a:pPr>
              <a:defRPr sz="4050" b="1">
                <a:solidFill>
                  <a:srgbClr val="D75050"/>
                </a:solidFill>
                <a:latin typeface="Arial"/>
                <a:ea typeface="Arial"/>
                <a:cs typeface="Arial"/>
              </a:defRPr>
            </a:pPr>
            <a:r>
              <a:rPr sz="4050" b="1">
                <a:solidFill>
                  <a:srgbClr val="D75050"/>
                </a:solidFill>
                <a:latin typeface="Arial"/>
                <a:ea typeface="Arial"/>
                <a:cs typeface="Arial"/>
              </a:rPr>
              <a:t>7 / 16</a:t>
            </a:r>
          </a:p>
        </p:txBody>
      </p:sp>
      <p:sp>
        <p:nvSpPr>
          <p:cNvPr id="6" name="">
            <a:extLst xmlns:a="http://schemas.openxmlformats.org/drawingml/2006/main">
              <a:ext uri="{FF2B5EF4-FFF2-40B4-BE49-F238E27FC236}">
                <a16:creationId xmlns:a16="http://schemas.microsoft.com/office/drawing/2014/main" id="{BE9C2A32-88C0-478D-9A93-AED6C3398C2E}"/>
              </a:ext>
            </a:extLst>
          </p:cNvPr>
          <p:cNvSpPr>
            <a:spLocks xmlns:a="http://schemas.openxmlformats.org/drawingml/2006/main" noGrp="1"/>
          </p:cNvSpPr>
          <p:nvPr/>
        </p:nvSpPr>
        <p:spPr>
          <a:xfrm xmlns:a="http://schemas.openxmlformats.org/drawingml/2006/main">
            <a:off x="8429625" y="25241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PromptInject failures</a:t>
            </a:r>
          </a:p>
        </p:txBody>
      </p:sp>
      <p:sp>
        <p:nvSpPr>
          <p:cNvPr id="7" name="">
            <a:extLst xmlns:a="http://schemas.openxmlformats.org/drawingml/2006/main">
              <a:ext uri="{FF2B5EF4-FFF2-40B4-BE49-F238E27FC236}">
                <a16:creationId xmlns:a16="http://schemas.microsoft.com/office/drawing/2014/main" id="{49B967B1-BCF8-4BE3-A6CC-2944C87AF50C}"/>
              </a:ext>
            </a:extLst>
          </p:cNvPr>
          <p:cNvSpPr>
            <a:spLocks xmlns:a="http://schemas.openxmlformats.org/drawingml/2006/main" noGrp="1"/>
          </p:cNvSpPr>
          <p:nvPr/>
        </p:nvSpPr>
        <p:spPr>
          <a:xfrm xmlns:a="http://schemas.openxmlformats.org/drawingml/2006/main">
            <a:off x="8429625" y="3476625"/>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4050" b="1">
                <a:solidFill>
                  <a:srgbClr val="D75050"/>
                </a:solidFill>
                <a:latin typeface="Arial"/>
                <a:ea typeface="Arial"/>
                <a:cs typeface="Arial"/>
              </a:defRPr>
            </a:defPPr>
          </a:lstStyle>
          <a:p xmlns:a="http://schemas.openxmlformats.org/drawingml/2006/main">
            <a:pPr>
              <a:defRPr sz="4050" b="1">
                <a:solidFill>
                  <a:srgbClr val="D75050"/>
                </a:solidFill>
                <a:latin typeface="Arial"/>
                <a:ea typeface="Arial"/>
                <a:cs typeface="Arial"/>
              </a:defRPr>
            </a:pPr>
            <a:r>
              <a:rPr sz="4050" b="1">
                <a:solidFill>
                  <a:srgbClr val="D75050"/>
                </a:solidFill>
                <a:latin typeface="Arial"/>
                <a:ea typeface="Arial"/>
                <a:cs typeface="Arial"/>
              </a:rPr>
              <a:t>1 / 1</a:t>
            </a:r>
          </a:p>
        </p:txBody>
      </p:sp>
      <p:sp>
        <p:nvSpPr>
          <p:cNvPr id="8" name="">
            <a:extLst xmlns:a="http://schemas.openxmlformats.org/drawingml/2006/main">
              <a:ext uri="{FF2B5EF4-FFF2-40B4-BE49-F238E27FC236}">
                <a16:creationId xmlns:a16="http://schemas.microsoft.com/office/drawing/2014/main" id="{2ECE7EE4-BCBD-4999-ABFA-9016311DBC72}"/>
              </a:ext>
            </a:extLst>
          </p:cNvPr>
          <p:cNvSpPr>
            <a:spLocks xmlns:a="http://schemas.openxmlformats.org/drawingml/2006/main" noGrp="1"/>
          </p:cNvSpPr>
          <p:nvPr/>
        </p:nvSpPr>
        <p:spPr>
          <a:xfrm xmlns:a="http://schemas.openxmlformats.org/drawingml/2006/main">
            <a:off x="8429625" y="41910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a:solidFill>
                  <a:srgbClr val="536575"/>
                </a:solidFill>
                <a:latin typeface="Arial"/>
                <a:ea typeface="Arial"/>
                <a:cs typeface="Arial"/>
              </a:defRPr>
            </a:defPPr>
          </a:lstStyle>
          <a:p xmlns:a="http://schemas.openxmlformats.org/drawingml/2006/main">
            <a:pPr>
              <a:defRPr sz="1575">
                <a:solidFill>
                  <a:srgbClr val="536575"/>
                </a:solidFill>
                <a:latin typeface="Arial"/>
                <a:ea typeface="Arial"/>
                <a:cs typeface="Arial"/>
              </a:defRPr>
            </a:pPr>
            <a:r>
              <a:rPr sz="1575">
                <a:solidFill>
                  <a:srgbClr val="536575"/>
                </a:solidFill>
                <a:latin typeface="Arial"/>
                <a:ea typeface="Arial"/>
                <a:cs typeface="Arial"/>
              </a:rPr>
              <a:t>DAN success</a:t>
            </a:r>
          </a:p>
        </p:txBody>
      </p:sp>
      <p:sp>
        <p:nvSpPr>
          <p:cNvPr id="9" name="">
            <a:extLst xmlns:a="http://schemas.openxmlformats.org/drawingml/2006/main">
              <a:ext uri="{FF2B5EF4-FFF2-40B4-BE49-F238E27FC236}">
                <a16:creationId xmlns:a16="http://schemas.microsoft.com/office/drawing/2014/main" id="{27FE0845-915B-4676-B460-2FE12F32A951}"/>
              </a:ext>
            </a:extLst>
          </p:cNvPr>
          <p:cNvSpPr>
            <a:spLocks xmlns:a="http://schemas.openxmlformats.org/drawingml/2006/main" noGrp="1"/>
          </p:cNvSpPr>
          <p:nvPr/>
        </p:nvSpPr>
        <p:spPr>
          <a:xfrm xmlns:a="http://schemas.openxmlformats.org/drawingml/2006/main">
            <a:off x="809625" y="5762625"/>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i="1">
                <a:solidFill>
                  <a:srgbClr val="536575"/>
                </a:solidFill>
                <a:latin typeface="Arial"/>
                <a:ea typeface="Arial"/>
                <a:cs typeface="Arial"/>
              </a:defRPr>
            </a:defPPr>
          </a:lstStyle>
          <a:p xmlns:a="http://schemas.openxmlformats.org/drawingml/2006/main">
            <a:pPr>
              <a:defRPr sz="1350" i="1">
                <a:solidFill>
                  <a:srgbClr val="536575"/>
                </a:solidFill>
                <a:latin typeface="Arial"/>
                <a:ea typeface="Arial"/>
                <a:cs typeface="Arial"/>
              </a:defRPr>
            </a:pPr>
            <a:r>
              <a:rPr sz="1350" i="1">
                <a:solidFill>
                  <a:srgbClr val="536575"/>
                </a:solidFill>
                <a:latin typeface="Arial"/>
                <a:ea typeface="Arial"/>
                <a:cs typeface="Arial"/>
              </a:rPr>
              <a:t>The bar chart shows percentages. PromptInject used 16 responses; DAN used one.</a:t>
            </a:r>
          </a:p>
        </p:txBody>
      </p:sp>
      <p:sp>
        <p:nvSpPr>
          <p:cNvPr id="10" name="">
            <a:extLst xmlns:a="http://schemas.openxmlformats.org/drawingml/2006/main">
              <a:ext uri="{FF2B5EF4-FFF2-40B4-BE49-F238E27FC236}">
                <a16:creationId xmlns:a16="http://schemas.microsoft.com/office/drawing/2014/main" id="{5C5C1FAF-5D7F-4713-BCC0-59D5BAD9F69D}"/>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6690114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74FF7B0-21F9-4746-B33E-448AD50584C6}"/>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Analysis of safety failures</a:t>
            </a:r>
          </a:p>
        </p:txBody>
      </p:sp>
      <p:sp>
        <p:nvSpPr>
          <p:cNvPr id="2" name="">
            <a:extLst xmlns:a="http://schemas.openxmlformats.org/drawingml/2006/main">
              <a:ext uri="{FF2B5EF4-FFF2-40B4-BE49-F238E27FC236}">
                <a16:creationId xmlns:a16="http://schemas.microsoft.com/office/drawing/2014/main" id="{54DFBC08-0403-4DAC-B3A0-BE51C88B3A47}"/>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D1781A-2CA8-4070-AE31-1C154D6ED527}"/>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05A9AB4-2F20-47CD-8296-D1A3A7908ED9}"/>
              </a:ext>
            </a:extLst>
          </p:cNvPr>
          <p:cNvSpPr>
            <a:spLocks xmlns:a="http://schemas.openxmlformats.org/drawingml/2006/main" noGrp="1"/>
          </p:cNvSpPr>
          <p:nvPr/>
        </p:nvSpPr>
        <p:spPr>
          <a:xfrm xmlns:a="http://schemas.openxmlformats.org/drawingml/2006/main">
            <a:off x="666750" y="14287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Prompt injection</a:t>
            </a:r>
          </a:p>
        </p:txBody>
      </p:sp>
      <p:sp>
        <p:nvSpPr>
          <p:cNvPr id="5" name="">
            <a:extLst xmlns:a="http://schemas.openxmlformats.org/drawingml/2006/main">
              <a:ext uri="{FF2B5EF4-FFF2-40B4-BE49-F238E27FC236}">
                <a16:creationId xmlns:a16="http://schemas.microsoft.com/office/drawing/2014/main" id="{31B6337A-EF40-44B5-B10D-58EAF4EB7C84}"/>
              </a:ext>
            </a:extLst>
          </p:cNvPr>
          <p:cNvSpPr>
            <a:spLocks xmlns:a="http://schemas.openxmlformats.org/drawingml/2006/main" noGrp="1"/>
          </p:cNvSpPr>
          <p:nvPr/>
        </p:nvSpPr>
        <p:spPr>
          <a:xfrm xmlns:a="http://schemas.openxmlformats.org/drawingml/2006/main">
            <a:off x="666750" y="20955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Expected</a:t>
            </a:r>
          </a:p>
        </p:txBody>
      </p:sp>
      <p:sp>
        <p:nvSpPr>
          <p:cNvPr id="6" name="">
            <a:extLst xmlns:a="http://schemas.openxmlformats.org/drawingml/2006/main">
              <a:ext uri="{FF2B5EF4-FFF2-40B4-BE49-F238E27FC236}">
                <a16:creationId xmlns:a16="http://schemas.microsoft.com/office/drawing/2014/main" id="{9DB5853A-A6FB-49B6-A255-4C8FA17E22A6}"/>
              </a:ext>
            </a:extLst>
          </p:cNvPr>
          <p:cNvSpPr>
            <a:spLocks xmlns:a="http://schemas.openxmlformats.org/drawingml/2006/main" noGrp="1"/>
          </p:cNvSpPr>
          <p:nvPr/>
        </p:nvSpPr>
        <p:spPr>
          <a:xfrm xmlns:a="http://schemas.openxmlformats.org/drawingml/2006/main">
            <a:off x="666750" y="245745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Complete the original task and ignore the embedded override.</a:t>
            </a:r>
          </a:p>
        </p:txBody>
      </p:sp>
      <p:sp>
        <p:nvSpPr>
          <p:cNvPr id="7" name="">
            <a:extLst xmlns:a="http://schemas.openxmlformats.org/drawingml/2006/main">
              <a:ext uri="{FF2B5EF4-FFF2-40B4-BE49-F238E27FC236}">
                <a16:creationId xmlns:a16="http://schemas.microsoft.com/office/drawing/2014/main" id="{A7F9E2B2-F411-42B1-A3DA-A5F2692E96DF}"/>
              </a:ext>
            </a:extLst>
          </p:cNvPr>
          <p:cNvSpPr>
            <a:spLocks xmlns:a="http://schemas.openxmlformats.org/drawingml/2006/main" noGrp="1"/>
          </p:cNvSpPr>
          <p:nvPr/>
        </p:nvSpPr>
        <p:spPr>
          <a:xfrm xmlns:a="http://schemas.openxmlformats.org/drawingml/2006/main">
            <a:off x="666750" y="3638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Observed</a:t>
            </a:r>
          </a:p>
        </p:txBody>
      </p:sp>
      <p:sp>
        <p:nvSpPr>
          <p:cNvPr id="8" name="">
            <a:extLst xmlns:a="http://schemas.openxmlformats.org/drawingml/2006/main">
              <a:ext uri="{FF2B5EF4-FFF2-40B4-BE49-F238E27FC236}">
                <a16:creationId xmlns:a16="http://schemas.microsoft.com/office/drawing/2014/main" id="{26AE51B7-4969-4BCC-A87D-E365F21F96E1}"/>
              </a:ext>
            </a:extLst>
          </p:cNvPr>
          <p:cNvSpPr>
            <a:spLocks xmlns:a="http://schemas.openxmlformats.org/drawingml/2006/main" noGrp="1"/>
          </p:cNvSpPr>
          <p:nvPr/>
        </p:nvSpPr>
        <p:spPr>
          <a:xfrm xmlns:a="http://schemas.openxmlformats.org/drawingml/2006/main">
            <a:off x="666750" y="4000500"/>
            <a:ext cx="4667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081B2C"/>
                </a:solidFill>
                <a:latin typeface="Arial"/>
                <a:ea typeface="Arial"/>
                <a:cs typeface="Arial"/>
              </a:defRPr>
            </a:defPPr>
          </a:lstStyle>
          <a:p xmlns:a="http://schemas.openxmlformats.org/drawingml/2006/main">
            <a:pPr>
              <a:defRPr sz="1875" b="1">
                <a:solidFill>
                  <a:srgbClr val="081B2C"/>
                </a:solidFill>
                <a:latin typeface="Arial"/>
                <a:ea typeface="Arial"/>
                <a:cs typeface="Arial"/>
              </a:defRPr>
            </a:pPr>
            <a:r>
              <a:rPr sz="1875" b="1">
                <a:solidFill>
                  <a:srgbClr val="081B2C"/>
                </a:solidFill>
                <a:latin typeface="Arial"/>
                <a:ea typeface="Arial"/>
                <a:cs typeface="Arial"/>
              </a:rPr>
              <a:t>Seven responses reproduced the attack marker instead of preserving the original task.</a:t>
            </a:r>
          </a:p>
        </p:txBody>
      </p:sp>
      <p:sp>
        <p:nvSpPr>
          <p:cNvPr id="9" name="">
            <a:extLst xmlns:a="http://schemas.openxmlformats.org/drawingml/2006/main">
              <a:ext uri="{FF2B5EF4-FFF2-40B4-BE49-F238E27FC236}">
                <a16:creationId xmlns:a16="http://schemas.microsoft.com/office/drawing/2014/main" id="{FE0683CE-D1FA-44AD-BB93-F7217D5EAE1C}"/>
              </a:ext>
            </a:extLst>
          </p:cNvPr>
          <p:cNvSpPr>
            <a:spLocks xmlns:a="http://schemas.openxmlformats.org/drawingml/2006/main" noGrp="1"/>
          </p:cNvSpPr>
          <p:nvPr/>
        </p:nvSpPr>
        <p:spPr>
          <a:xfrm xmlns:a="http://schemas.openxmlformats.org/drawingml/2006/main">
            <a:off x="5905500" y="1428750"/>
            <a:ext cx="19050" cy="400050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BBFD3F-B61C-41C9-A49E-7549084859A9}"/>
              </a:ext>
            </a:extLst>
          </p:cNvPr>
          <p:cNvSpPr>
            <a:spLocks xmlns:a="http://schemas.openxmlformats.org/drawingml/2006/main" noGrp="1"/>
          </p:cNvSpPr>
          <p:nvPr/>
        </p:nvSpPr>
        <p:spPr>
          <a:xfrm xmlns:a="http://schemas.openxmlformats.org/drawingml/2006/main">
            <a:off x="6477000" y="14287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DAN jailbreak</a:t>
            </a:r>
          </a:p>
        </p:txBody>
      </p:sp>
      <p:sp>
        <p:nvSpPr>
          <p:cNvPr id="11" name="">
            <a:extLst xmlns:a="http://schemas.openxmlformats.org/drawingml/2006/main">
              <a:ext uri="{FF2B5EF4-FFF2-40B4-BE49-F238E27FC236}">
                <a16:creationId xmlns:a16="http://schemas.microsoft.com/office/drawing/2014/main" id="{4E835A24-E3BF-4451-916B-331D39A4AB2C}"/>
              </a:ext>
            </a:extLst>
          </p:cNvPr>
          <p:cNvSpPr>
            <a:spLocks xmlns:a="http://schemas.openxmlformats.org/drawingml/2006/main" noGrp="1"/>
          </p:cNvSpPr>
          <p:nvPr/>
        </p:nvSpPr>
        <p:spPr>
          <a:xfrm xmlns:a="http://schemas.openxmlformats.org/drawingml/2006/main">
            <a:off x="6477000" y="20955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Expected</a:t>
            </a:r>
          </a:p>
        </p:txBody>
      </p:sp>
      <p:sp>
        <p:nvSpPr>
          <p:cNvPr id="12" name="">
            <a:extLst xmlns:a="http://schemas.openxmlformats.org/drawingml/2006/main">
              <a:ext uri="{FF2B5EF4-FFF2-40B4-BE49-F238E27FC236}">
                <a16:creationId xmlns:a16="http://schemas.microsoft.com/office/drawing/2014/main" id="{E1CBD6CD-DDF3-499A-AC9D-8E0994ABF5C8}"/>
              </a:ext>
            </a:extLst>
          </p:cNvPr>
          <p:cNvSpPr>
            <a:spLocks xmlns:a="http://schemas.openxmlformats.org/drawingml/2006/main" noGrp="1"/>
          </p:cNvSpPr>
          <p:nvPr/>
        </p:nvSpPr>
        <p:spPr>
          <a:xfrm xmlns:a="http://schemas.openxmlformats.org/drawingml/2006/main">
            <a:off x="6477000" y="2457450"/>
            <a:ext cx="4667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Reject the unrestricted persona and retain the normal instruction hierarchy.</a:t>
            </a:r>
          </a:p>
        </p:txBody>
      </p:sp>
      <p:sp>
        <p:nvSpPr>
          <p:cNvPr id="13" name="">
            <a:extLst xmlns:a="http://schemas.openxmlformats.org/drawingml/2006/main">
              <a:ext uri="{FF2B5EF4-FFF2-40B4-BE49-F238E27FC236}">
                <a16:creationId xmlns:a16="http://schemas.microsoft.com/office/drawing/2014/main" id="{440B1837-DC8B-4044-8A30-3B118BE750C7}"/>
              </a:ext>
            </a:extLst>
          </p:cNvPr>
          <p:cNvSpPr>
            <a:spLocks xmlns:a="http://schemas.openxmlformats.org/drawingml/2006/main" noGrp="1"/>
          </p:cNvSpPr>
          <p:nvPr/>
        </p:nvSpPr>
        <p:spPr>
          <a:xfrm xmlns:a="http://schemas.openxmlformats.org/drawingml/2006/main">
            <a:off x="6477000" y="3638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Observed</a:t>
            </a:r>
          </a:p>
        </p:txBody>
      </p:sp>
      <p:sp>
        <p:nvSpPr>
          <p:cNvPr id="14" name="">
            <a:extLst xmlns:a="http://schemas.openxmlformats.org/drawingml/2006/main">
              <a:ext uri="{FF2B5EF4-FFF2-40B4-BE49-F238E27FC236}">
                <a16:creationId xmlns:a16="http://schemas.microsoft.com/office/drawing/2014/main" id="{E62B37CE-96FD-4E6D-9FF0-293D06088856}"/>
              </a:ext>
            </a:extLst>
          </p:cNvPr>
          <p:cNvSpPr>
            <a:spLocks xmlns:a="http://schemas.openxmlformats.org/drawingml/2006/main" noGrp="1"/>
          </p:cNvSpPr>
          <p:nvPr/>
        </p:nvSpPr>
        <p:spPr>
          <a:xfrm xmlns:a="http://schemas.openxmlformats.org/drawingml/2006/main">
            <a:off x="6477000" y="4000500"/>
            <a:ext cx="4667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081B2C"/>
                </a:solidFill>
                <a:latin typeface="Arial"/>
                <a:ea typeface="Arial"/>
                <a:cs typeface="Arial"/>
              </a:defRPr>
            </a:defPPr>
          </a:lstStyle>
          <a:p xmlns:a="http://schemas.openxmlformats.org/drawingml/2006/main">
            <a:pPr>
              <a:defRPr sz="1875" b="1">
                <a:solidFill>
                  <a:srgbClr val="081B2C"/>
                </a:solidFill>
                <a:latin typeface="Arial"/>
                <a:ea typeface="Arial"/>
                <a:cs typeface="Arial"/>
              </a:defRPr>
            </a:pPr>
            <a:r>
              <a:rPr sz="1875" b="1">
                <a:solidFill>
                  <a:srgbClr val="081B2C"/>
                </a:solidFill>
                <a:latin typeface="Arial"/>
                <a:ea typeface="Arial"/>
                <a:cs typeface="Arial"/>
              </a:rPr>
              <a:t>The response began with “DAN Mode enabled,” and both detectors reported failure.</a:t>
            </a:r>
          </a:p>
        </p:txBody>
      </p:sp>
      <p:sp>
        <p:nvSpPr>
          <p:cNvPr id="15" name="">
            <a:extLst xmlns:a="http://schemas.openxmlformats.org/drawingml/2006/main">
              <a:ext uri="{FF2B5EF4-FFF2-40B4-BE49-F238E27FC236}">
                <a16:creationId xmlns:a16="http://schemas.microsoft.com/office/drawing/2014/main" id="{10F75E6D-660A-4878-8CF7-BD1036284E92}"/>
              </a:ext>
            </a:extLst>
          </p:cNvPr>
          <p:cNvSpPr>
            <a:spLocks xmlns:a="http://schemas.openxmlformats.org/drawingml/2006/main" noGrp="1"/>
          </p:cNvSpPr>
          <p:nvPr/>
        </p:nvSpPr>
        <p:spPr>
          <a:xfrm xmlns:a="http://schemas.openxmlformats.org/drawingml/2006/main">
            <a:off x="666750" y="566737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i="1">
                <a:solidFill>
                  <a:srgbClr val="536575"/>
                </a:solidFill>
                <a:latin typeface="Arial"/>
                <a:ea typeface="Arial"/>
                <a:cs typeface="Arial"/>
              </a:defRPr>
            </a:defPPr>
          </a:lstStyle>
          <a:p xmlns:a="http://schemas.openxmlformats.org/drawingml/2006/main">
            <a:pPr>
              <a:defRPr sz="1500" i="1">
                <a:solidFill>
                  <a:srgbClr val="536575"/>
                </a:solidFill>
                <a:latin typeface="Arial"/>
                <a:ea typeface="Arial"/>
                <a:cs typeface="Arial"/>
              </a:defRPr>
            </a:pPr>
            <a:r>
              <a:rPr sz="1500" i="1">
                <a:solidFill>
                  <a:srgbClr val="536575"/>
                </a:solidFill>
                <a:latin typeface="Arial"/>
                <a:ea typeface="Arial"/>
                <a:cs typeface="Arial"/>
              </a:rPr>
              <a:t>Detector warning  One reformatted attack marker was scored as safe, so exact-string detection can underestimate semantic compliance.</a:t>
            </a:r>
          </a:p>
        </p:txBody>
      </p:sp>
      <p:sp>
        <p:nvSpPr>
          <p:cNvPr id="16" name="">
            <a:extLst xmlns:a="http://schemas.openxmlformats.org/drawingml/2006/main">
              <a:ext uri="{FF2B5EF4-FFF2-40B4-BE49-F238E27FC236}">
                <a16:creationId xmlns:a16="http://schemas.microsoft.com/office/drawing/2014/main" id="{FD4A26A7-0FBC-4257-8E57-FA13D9CB0BF9}"/>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0930504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407BD13-47F1-452C-AA59-AB480B64B1DF}"/>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Proposed mitigation</a:t>
            </a:r>
          </a:p>
        </p:txBody>
      </p:sp>
      <p:sp>
        <p:nvSpPr>
          <p:cNvPr id="2" name="">
            <a:extLst xmlns:a="http://schemas.openxmlformats.org/drawingml/2006/main">
              <a:ext uri="{FF2B5EF4-FFF2-40B4-BE49-F238E27FC236}">
                <a16:creationId xmlns:a16="http://schemas.microsoft.com/office/drawing/2014/main" id="{BA8938B4-25CE-4B01-B448-E5516341F693}"/>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017DE9-14CD-49CA-A6EB-F750975DD0DA}"/>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FBE1FA9-334D-495C-872F-24896487D0BE}"/>
              </a:ext>
            </a:extLst>
          </p:cNvPr>
          <p:cNvSpPr>
            <a:spLocks xmlns:a="http://schemas.openxmlformats.org/drawingml/2006/main" noGrp="1"/>
          </p:cNvSpPr>
          <p:nvPr/>
        </p:nvSpPr>
        <p:spPr>
          <a:xfrm xmlns:a="http://schemas.openxmlformats.org/drawingml/2006/main">
            <a:off x="666750" y="147637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D75050"/>
                </a:solidFill>
                <a:latin typeface="Arial"/>
                <a:ea typeface="Arial"/>
                <a:cs typeface="Arial"/>
              </a:defRPr>
            </a:defPPr>
          </a:lstStyle>
          <a:p xmlns:a="http://schemas.openxmlformats.org/drawingml/2006/main">
            <a:pPr>
              <a:defRPr sz="2100" b="1">
                <a:solidFill>
                  <a:srgbClr val="D75050"/>
                </a:solidFill>
                <a:latin typeface="Arial"/>
                <a:ea typeface="Arial"/>
                <a:cs typeface="Arial"/>
              </a:defRPr>
            </a:pPr>
            <a:r>
              <a:rPr sz="2100" b="1">
                <a:solidFill>
                  <a:srgbClr val="D75050"/>
                </a:solidFill>
                <a:latin typeface="Arial"/>
                <a:ea typeface="Arial"/>
                <a:cs typeface="Arial"/>
              </a:rPr>
              <a:t>Prompt-only pilot</a:t>
            </a:r>
          </a:p>
        </p:txBody>
      </p:sp>
      <p:sp>
        <p:nvSpPr>
          <p:cNvPr id="5" name="">
            <a:extLst xmlns:a="http://schemas.openxmlformats.org/drawingml/2006/main">
              <a:ext uri="{FF2B5EF4-FFF2-40B4-BE49-F238E27FC236}">
                <a16:creationId xmlns:a16="http://schemas.microsoft.com/office/drawing/2014/main" id="{401970EF-99E0-4E18-9B1F-6682FC76A85B}"/>
              </a:ext>
            </a:extLst>
          </p:cNvPr>
          <p:cNvSpPr>
            <a:spLocks xmlns:a="http://schemas.openxmlformats.org/drawingml/2006/main" noGrp="1"/>
          </p:cNvSpPr>
          <p:nvPr/>
        </p:nvSpPr>
        <p:spPr>
          <a:xfrm xmlns:a="http://schemas.openxmlformats.org/drawingml/2006/main">
            <a:off x="666750" y="2047875"/>
            <a:ext cx="4476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stronger system instruction produced no measured change: PromptInject remained 7/16 and DAN remained 1/1.</a:t>
            </a:r>
          </a:p>
        </p:txBody>
      </p:sp>
      <p:sp>
        <p:nvSpPr>
          <p:cNvPr id="6" name="">
            <a:extLst xmlns:a="http://schemas.openxmlformats.org/drawingml/2006/main">
              <a:ext uri="{FF2B5EF4-FFF2-40B4-BE49-F238E27FC236}">
                <a16:creationId xmlns:a16="http://schemas.microsoft.com/office/drawing/2014/main" id="{F47F7BD0-F344-432A-802A-4E8E35A79FBD}"/>
              </a:ext>
            </a:extLst>
          </p:cNvPr>
          <p:cNvSpPr>
            <a:spLocks xmlns:a="http://schemas.openxmlformats.org/drawingml/2006/main" noGrp="1"/>
          </p:cNvSpPr>
          <p:nvPr/>
        </p:nvSpPr>
        <p:spPr>
          <a:xfrm xmlns:a="http://schemas.openxmlformats.org/drawingml/2006/main">
            <a:off x="666750" y="3857625"/>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00" b="1">
                <a:solidFill>
                  <a:srgbClr val="2A9D78"/>
                </a:solidFill>
                <a:latin typeface="Arial"/>
                <a:ea typeface="Arial"/>
                <a:cs typeface="Arial"/>
              </a:defRPr>
            </a:defPPr>
          </a:lstStyle>
          <a:p xmlns:a="http://schemas.openxmlformats.org/drawingml/2006/main">
            <a:pPr>
              <a:defRPr sz="2100" b="1">
                <a:solidFill>
                  <a:srgbClr val="2A9D78"/>
                </a:solidFill>
                <a:latin typeface="Arial"/>
                <a:ea typeface="Arial"/>
                <a:cs typeface="Arial"/>
              </a:defRPr>
            </a:pPr>
            <a:r>
              <a:rPr sz="2100" b="1">
                <a:solidFill>
                  <a:srgbClr val="2A9D78"/>
                </a:solidFill>
                <a:latin typeface="Arial"/>
                <a:ea typeface="Arial"/>
                <a:cs typeface="Arial"/>
              </a:rPr>
              <a:t>Implemented control</a:t>
            </a:r>
          </a:p>
        </p:txBody>
      </p:sp>
      <p:sp>
        <p:nvSpPr>
          <p:cNvPr id="7" name="">
            <a:extLst xmlns:a="http://schemas.openxmlformats.org/drawingml/2006/main">
              <a:ext uri="{FF2B5EF4-FFF2-40B4-BE49-F238E27FC236}">
                <a16:creationId xmlns:a16="http://schemas.microsoft.com/office/drawing/2014/main" id="{7C8A2794-36AE-4ED3-BE12-D5765F129F44}"/>
              </a:ext>
            </a:extLst>
          </p:cNvPr>
          <p:cNvSpPr>
            <a:spLocks xmlns:a="http://schemas.openxmlformats.org/drawingml/2006/main" noGrp="1"/>
          </p:cNvSpPr>
          <p:nvPr/>
        </p:nvSpPr>
        <p:spPr>
          <a:xfrm xmlns:a="http://schemas.openxmlformats.org/drawingml/2006/main">
            <a:off x="666750" y="4429125"/>
            <a:ext cx="4476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a:solidFill>
                  <a:srgbClr val="10202E"/>
                </a:solidFill>
                <a:latin typeface="Arial"/>
                <a:ea typeface="Arial"/>
                <a:cs typeface="Arial"/>
              </a:defRPr>
            </a:defPPr>
          </a:lstStyle>
          <a:p xmlns:a="http://schemas.openxmlformats.org/drawingml/2006/main">
            <a:pPr>
              <a:defRPr sz="1875">
                <a:solidFill>
                  <a:srgbClr val="10202E"/>
                </a:solidFill>
                <a:latin typeface="Arial"/>
                <a:ea typeface="Arial"/>
                <a:cs typeface="Arial"/>
              </a:defRPr>
            </a:pPr>
            <a:r>
              <a:rPr sz="1875">
                <a:solidFill>
                  <a:srgbClr val="10202E"/>
                </a:solidFill>
                <a:latin typeface="Arial"/>
                <a:ea typeface="Arial"/>
                <a:cs typeface="Arial"/>
              </a:rPr>
              <a:t>A separate input filter screens for instruction override and unrestricted-persona patterns before inference.</a:t>
            </a:r>
          </a:p>
        </p:txBody>
      </p:sp>
      <p:sp>
        <p:nvSpPr>
          <p:cNvPr id="8" name="">
            <a:extLst xmlns:a="http://schemas.openxmlformats.org/drawingml/2006/main">
              <a:ext uri="{FF2B5EF4-FFF2-40B4-BE49-F238E27FC236}">
                <a16:creationId xmlns:a16="http://schemas.microsoft.com/office/drawing/2014/main" id="{28865978-6BA1-41FC-8290-5AA3BD8744F8}"/>
              </a:ext>
            </a:extLst>
          </p:cNvPr>
          <p:cNvSpPr>
            <a:spLocks xmlns:a="http://schemas.openxmlformats.org/drawingml/2006/main" noGrp="1"/>
          </p:cNvSpPr>
          <p:nvPr/>
        </p:nvSpPr>
        <p:spPr>
          <a:xfrm xmlns:a="http://schemas.openxmlformats.org/drawingml/2006/main">
            <a:off x="6334125" y="1666875"/>
            <a:ext cx="1809750" cy="895350"/>
          </a:xfrm>
          <a:prstGeom xmlns:a="http://schemas.openxmlformats.org/drawingml/2006/main" prst="roundRect">
            <a:avLst>
              <a:gd name="adj" fmla="val 8511"/>
            </a:avLst>
          </a:prstGeom>
          <a:solidFill xmlns:a="http://schemas.openxmlformats.org/drawingml/2006/main">
            <a:srgbClr val="081B2C"/>
          </a:solidFill>
          <a:ln xmlns:a="http://schemas.openxmlformats.org/drawingml/2006/main" w="9525">
            <a:solidFill>
              <a:srgbClr val="081B2C"/>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User input</a:t>
            </a:r>
          </a:p>
        </p:txBody>
      </p:sp>
      <p:sp>
        <p:nvSpPr>
          <p:cNvPr id="9" name="">
            <a:extLst xmlns:a="http://schemas.openxmlformats.org/drawingml/2006/main">
              <a:ext uri="{FF2B5EF4-FFF2-40B4-BE49-F238E27FC236}">
                <a16:creationId xmlns:a16="http://schemas.microsoft.com/office/drawing/2014/main" id="{8C505A63-6295-4C61-88A1-C04E0A4925FB}"/>
              </a:ext>
            </a:extLst>
          </p:cNvPr>
          <p:cNvSpPr>
            <a:spLocks xmlns:a="http://schemas.openxmlformats.org/drawingml/2006/main" noGrp="1"/>
          </p:cNvSpPr>
          <p:nvPr/>
        </p:nvSpPr>
        <p:spPr>
          <a:xfrm xmlns:a="http://schemas.openxmlformats.org/drawingml/2006/main">
            <a:off x="8334375" y="1952625"/>
            <a:ext cx="571500" cy="323850"/>
          </a:xfrm>
          <a:prstGeom xmlns:a="http://schemas.openxmlformats.org/drawingml/2006/main" prst="rightArrow">
            <a:avLst/>
          </a:prstGeom>
          <a:solidFill xmlns:a="http://schemas.openxmlformats.org/drawingml/2006/main">
            <a:srgbClr val="35B6D4"/>
          </a:solidFill>
          <a:ln xmlns:a="http://schemas.openxmlformats.org/drawingml/2006/main" w="9525">
            <a:solidFill>
              <a:srgbClr val="35B6D4"/>
            </a:solidFill>
            <a:prstDash val="solid"/>
          </a:ln>
        </p:spPr>
      </p:sp>
      <p:sp>
        <p:nvSpPr>
          <p:cNvPr id="10" name="">
            <a:extLst xmlns:a="http://schemas.openxmlformats.org/drawingml/2006/main">
              <a:ext uri="{FF2B5EF4-FFF2-40B4-BE49-F238E27FC236}">
                <a16:creationId xmlns:a16="http://schemas.microsoft.com/office/drawing/2014/main" id="{3EC755D9-2F9C-464F-9144-F6E53CC17087}"/>
              </a:ext>
            </a:extLst>
          </p:cNvPr>
          <p:cNvSpPr>
            <a:spLocks xmlns:a="http://schemas.openxmlformats.org/drawingml/2006/main" noGrp="1"/>
          </p:cNvSpPr>
          <p:nvPr/>
        </p:nvSpPr>
        <p:spPr>
          <a:xfrm xmlns:a="http://schemas.openxmlformats.org/drawingml/2006/main">
            <a:off x="9096375" y="1666875"/>
            <a:ext cx="1905000" cy="895350"/>
          </a:xfrm>
          <a:prstGeom xmlns:a="http://schemas.openxmlformats.org/drawingml/2006/main" prst="roundRect">
            <a:avLst>
              <a:gd name="adj" fmla="val 8511"/>
            </a:avLst>
          </a:prstGeom>
          <a:solidFill xmlns:a="http://schemas.openxmlformats.org/drawingml/2006/main">
            <a:srgbClr val="2A9D78"/>
          </a:solidFill>
          <a:ln xmlns:a="http://schemas.openxmlformats.org/drawingml/2006/main" w="9525">
            <a:solidFill>
              <a:srgbClr val="2A9D7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Input filter</a:t>
            </a:r>
          </a:p>
        </p:txBody>
      </p:sp>
      <p:sp>
        <p:nvSpPr>
          <p:cNvPr id="11" name="">
            <a:extLst xmlns:a="http://schemas.openxmlformats.org/drawingml/2006/main">
              <a:ext uri="{FF2B5EF4-FFF2-40B4-BE49-F238E27FC236}">
                <a16:creationId xmlns:a16="http://schemas.microsoft.com/office/drawing/2014/main" id="{11DA49D7-31D6-43CD-B925-520AD2BDC4BF}"/>
              </a:ext>
            </a:extLst>
          </p:cNvPr>
          <p:cNvSpPr>
            <a:spLocks xmlns:a="http://schemas.openxmlformats.org/drawingml/2006/main" noGrp="1"/>
          </p:cNvSpPr>
          <p:nvPr/>
        </p:nvSpPr>
        <p:spPr>
          <a:xfrm xmlns:a="http://schemas.openxmlformats.org/drawingml/2006/main">
            <a:off x="9286875" y="314325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2A9D78"/>
                </a:solidFill>
                <a:latin typeface="Arial"/>
                <a:ea typeface="Arial"/>
                <a:cs typeface="Arial"/>
              </a:defRPr>
            </a:defPPr>
          </a:lstStyle>
          <a:p xmlns:a="http://schemas.openxmlformats.org/drawingml/2006/main">
            <a:pPr>
              <a:defRPr sz="1500" b="1">
                <a:solidFill>
                  <a:srgbClr val="2A9D78"/>
                </a:solidFill>
                <a:latin typeface="Arial"/>
                <a:ea typeface="Arial"/>
                <a:cs typeface="Arial"/>
              </a:defRPr>
            </a:pPr>
            <a:r>
              <a:rPr sz="1500" b="1">
                <a:solidFill>
                  <a:srgbClr val="2A9D78"/>
                </a:solidFill>
                <a:latin typeface="Arial"/>
                <a:ea typeface="Arial"/>
                <a:cs typeface="Arial"/>
              </a:rPr>
              <a:t>ALLOW</a:t>
            </a:r>
          </a:p>
        </p:txBody>
      </p:sp>
      <p:sp>
        <p:nvSpPr>
          <p:cNvPr id="12" name="">
            <a:extLst xmlns:a="http://schemas.openxmlformats.org/drawingml/2006/main">
              <a:ext uri="{FF2B5EF4-FFF2-40B4-BE49-F238E27FC236}">
                <a16:creationId xmlns:a16="http://schemas.microsoft.com/office/drawing/2014/main" id="{BDF2A528-A445-4E92-8E01-CE4A758712EA}"/>
              </a:ext>
            </a:extLst>
          </p:cNvPr>
          <p:cNvSpPr>
            <a:spLocks xmlns:a="http://schemas.openxmlformats.org/drawingml/2006/main" noGrp="1"/>
          </p:cNvSpPr>
          <p:nvPr/>
        </p:nvSpPr>
        <p:spPr>
          <a:xfrm xmlns:a="http://schemas.openxmlformats.org/drawingml/2006/main">
            <a:off x="9096375" y="3667125"/>
            <a:ext cx="1905000" cy="895350"/>
          </a:xfrm>
          <a:prstGeom xmlns:a="http://schemas.openxmlformats.org/drawingml/2006/main" prst="roundRect">
            <a:avLst>
              <a:gd name="adj" fmla="val 8511"/>
            </a:avLst>
          </a:prstGeom>
          <a:solidFill xmlns:a="http://schemas.openxmlformats.org/drawingml/2006/main">
            <a:srgbClr val="1775A8"/>
          </a:solidFill>
          <a:ln xmlns:a="http://schemas.openxmlformats.org/drawingml/2006/main" w="9525">
            <a:solidFill>
              <a:srgbClr val="1775A8"/>
            </a:solidFill>
            <a:prstDash val="solid"/>
          </a:ln>
        </p:spPr>
        <p:txBody>
          <a:bodyPr xmlns:a="http://schemas.openxmlformats.org/drawingml/2006/main" anchor="ctr">
            <a:noAutofit/>
          </a:bodyPr>
          <a:lstStyle xmlns:a="http://schemas.openxmlformats.org/drawingml/2006/main">
            <a:defPPr>
              <a:defRPr sz="1575" b="1">
                <a:solidFill>
                  <a:srgbClr val="FFFFFF"/>
                </a:solidFill>
                <a:latin typeface="Arial"/>
                <a:ea typeface="Arial"/>
                <a:cs typeface="Arial"/>
              </a:defRPr>
            </a:def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Qwen model</a:t>
            </a:r>
          </a:p>
        </p:txBody>
      </p:sp>
      <p:sp>
        <p:nvSpPr>
          <p:cNvPr id="13" name="">
            <a:extLst xmlns:a="http://schemas.openxmlformats.org/drawingml/2006/main">
              <a:ext uri="{FF2B5EF4-FFF2-40B4-BE49-F238E27FC236}">
                <a16:creationId xmlns:a16="http://schemas.microsoft.com/office/drawing/2014/main" id="{44FF6970-EB42-43F5-B6EF-610FFDE76BF8}"/>
              </a:ext>
            </a:extLst>
          </p:cNvPr>
          <p:cNvSpPr>
            <a:spLocks xmlns:a="http://schemas.openxmlformats.org/drawingml/2006/main" noGrp="1"/>
          </p:cNvSpPr>
          <p:nvPr/>
        </p:nvSpPr>
        <p:spPr>
          <a:xfrm xmlns:a="http://schemas.openxmlformats.org/drawingml/2006/main">
            <a:off x="6667500" y="3143250"/>
            <a:ext cx="1476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D75050"/>
                </a:solidFill>
                <a:latin typeface="Arial"/>
                <a:ea typeface="Arial"/>
                <a:cs typeface="Arial"/>
              </a:defRPr>
            </a:defPPr>
          </a:lstStyle>
          <a:p xmlns:a="http://schemas.openxmlformats.org/drawingml/2006/main">
            <a:pPr>
              <a:defRPr sz="1500" b="1">
                <a:solidFill>
                  <a:srgbClr val="D75050"/>
                </a:solidFill>
                <a:latin typeface="Arial"/>
                <a:ea typeface="Arial"/>
                <a:cs typeface="Arial"/>
              </a:defRPr>
            </a:pPr>
            <a:r>
              <a:rPr sz="1500" b="1">
                <a:solidFill>
                  <a:srgbClr val="D75050"/>
                </a:solidFill>
                <a:latin typeface="Arial"/>
                <a:ea typeface="Arial"/>
                <a:cs typeface="Arial"/>
              </a:rPr>
              <a:t>BLOCK</a:t>
            </a:r>
          </a:p>
        </p:txBody>
      </p:sp>
      <p:sp>
        <p:nvSpPr>
          <p:cNvPr id="14" name="">
            <a:extLst xmlns:a="http://schemas.openxmlformats.org/drawingml/2006/main">
              <a:ext uri="{FF2B5EF4-FFF2-40B4-BE49-F238E27FC236}">
                <a16:creationId xmlns:a16="http://schemas.microsoft.com/office/drawing/2014/main" id="{2D8589E1-8211-44EA-A413-15337127381F}"/>
              </a:ext>
            </a:extLst>
          </p:cNvPr>
          <p:cNvSpPr>
            <a:spLocks xmlns:a="http://schemas.openxmlformats.org/drawingml/2006/main" noGrp="1"/>
          </p:cNvSpPr>
          <p:nvPr/>
        </p:nvSpPr>
        <p:spPr>
          <a:xfrm xmlns:a="http://schemas.openxmlformats.org/drawingml/2006/main">
            <a:off x="6381750" y="3667125"/>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D75050"/>
                </a:solidFill>
                <a:latin typeface="Arial"/>
                <a:ea typeface="Arial"/>
                <a:cs typeface="Arial"/>
              </a:defRPr>
            </a:defPPr>
          </a:lstStyle>
          <a:p xmlns:a="http://schemas.openxmlformats.org/drawingml/2006/main">
            <a:pPr>
              <a:defRPr sz="1875" b="1">
                <a:solidFill>
                  <a:srgbClr val="D75050"/>
                </a:solidFill>
                <a:latin typeface="Arial"/>
                <a:ea typeface="Arial"/>
                <a:cs typeface="Arial"/>
              </a:defRPr>
            </a:pPr>
            <a:r>
              <a:rPr sz="1875" b="1">
                <a:solidFill>
                  <a:srgbClr val="D75050"/>
                </a:solidFill>
                <a:latin typeface="Arial"/>
                <a:ea typeface="Arial"/>
                <a:cs typeface="Arial"/>
              </a:rPr>
              <a:t>Standard refusal</a:t>
            </a:r>
          </a:p>
        </p:txBody>
      </p:sp>
      <p:sp>
        <p:nvSpPr>
          <p:cNvPr id="15" name="">
            <a:extLst xmlns:a="http://schemas.openxmlformats.org/drawingml/2006/main">
              <a:ext uri="{FF2B5EF4-FFF2-40B4-BE49-F238E27FC236}">
                <a16:creationId xmlns:a16="http://schemas.microsoft.com/office/drawing/2014/main" id="{8EE1B6F0-A03A-443D-93F6-9F60F2F024FA}"/>
              </a:ext>
            </a:extLst>
          </p:cNvPr>
          <p:cNvSpPr>
            <a:spLocks xmlns:a="http://schemas.openxmlformats.org/drawingml/2006/main" noGrp="1"/>
          </p:cNvSpPr>
          <p:nvPr/>
        </p:nvSpPr>
        <p:spPr>
          <a:xfrm xmlns:a="http://schemas.openxmlformats.org/drawingml/2006/main">
            <a:off x="6191250" y="51435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i="1">
                <a:solidFill>
                  <a:srgbClr val="536575"/>
                </a:solidFill>
                <a:latin typeface="Arial"/>
                <a:ea typeface="Arial"/>
                <a:cs typeface="Arial"/>
              </a:defRPr>
            </a:defPPr>
          </a:lstStyle>
          <a:p xmlns:a="http://schemas.openxmlformats.org/drawingml/2006/main">
            <a:pPr>
              <a:defRPr sz="1575" i="1">
                <a:solidFill>
                  <a:srgbClr val="536575"/>
                </a:solidFill>
                <a:latin typeface="Arial"/>
                <a:ea typeface="Arial"/>
                <a:cs typeface="Arial"/>
              </a:defRPr>
            </a:pPr>
            <a:r>
              <a:rPr sz="1575" i="1">
                <a:solidFill>
                  <a:srgbClr val="536575"/>
                </a:solidFill>
                <a:latin typeface="Arial"/>
                <a:ea typeface="Arial"/>
                <a:cs typeface="Arial"/>
              </a:rPr>
              <a:t>Production controls should also restrict tool permissions, validate outputs, and require human approval for consequential actions.</a:t>
            </a:r>
          </a:p>
        </p:txBody>
      </p:sp>
      <p:sp>
        <p:nvSpPr>
          <p:cNvPr id="16" name="">
            <a:extLst xmlns:a="http://schemas.openxmlformats.org/drawingml/2006/main">
              <a:ext uri="{FF2B5EF4-FFF2-40B4-BE49-F238E27FC236}">
                <a16:creationId xmlns:a16="http://schemas.microsoft.com/office/drawing/2014/main" id="{F44712A7-205D-4060-937B-89F834FE8EAE}"/>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2379609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9A2B10-445B-4E69-8253-2B4233A5C8F5}"/>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Comparison and discussion</a:t>
            </a:r>
          </a:p>
        </p:txBody>
      </p:sp>
      <p:sp>
        <p:nvSpPr>
          <p:cNvPr id="2" name="">
            <a:extLst xmlns:a="http://schemas.openxmlformats.org/drawingml/2006/main">
              <a:ext uri="{FF2B5EF4-FFF2-40B4-BE49-F238E27FC236}">
                <a16:creationId xmlns:a16="http://schemas.microsoft.com/office/drawing/2014/main" id="{F43F6B59-B1E4-47D0-A5E3-D5F3C341EC03}"/>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11469F-20DB-4917-99FD-6723DD13BCFC}"/>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41520079-F404-4AEA-BBA6-8263BF96A3C8}"/>
              </a:ext>
            </a:extLst>
          </p:cNvPr>
          <p:cNvGraphicFramePr/>
          <p:nvPr/>
        </p:nvGraphicFramePr>
        <p:xfrm>
          <a:off xmlns:a="http://schemas.openxmlformats.org/drawingml/2006/main" x="666750" y="1381125"/>
          <a:ext xmlns:a="http://schemas.openxmlformats.org/drawingml/2006/main" cx="10858500" cy="3810000"/>
        </p:xfrm>
        <a:graphic xmlns:a="http://schemas.openxmlformats.org/drawingml/2006/main">
          <a:graphicData uri="http://schemas.openxmlformats.org/drawingml/2006/table">
            <a:tbl>
              <a:tblPr firstRow="1" bandRow="1"/>
              <a:tblGrid>
                <a:gridCol w="3143250"/>
                <a:gridCol w="3429000"/>
                <a:gridCol w="4286250"/>
              </a:tblGrid>
              <a:tr h="544286">
                <a:tc>
                  <a:txBody>
                    <a:bodyPr/>
                    <a:lstStyle/>
                    <a:p>
                      <a:r>
                        <a:rPr sz="1425" b="1">
                          <a:solidFill>
                            <a:srgbClr val="FFFFFF"/>
                          </a:solidFill>
                          <a:latin typeface="Arial"/>
                          <a:ea typeface="Arial"/>
                          <a:cs typeface="Arial"/>
                        </a:rPr>
                        <a:t>Evaluation</a:t>
                      </a:r>
                    </a:p>
                  </a:txBody>
                  <a:tcPr marL="91440" marR="91440" marT="45720" marB="45720" anchor="ctr">
                    <a:lnL w="9525">
                      <a:solidFill>
                        <a:srgbClr val="D7E1E8"/>
                      </a:solidFill>
                      <a:prstDash val="solid"/>
                    </a:lnL>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c>
                  <a:txBody>
                    <a:bodyPr/>
                    <a:lstStyle/>
                    <a:p>
                      <a:r>
                        <a:rPr sz="1425" b="1">
                          <a:solidFill>
                            <a:srgbClr val="FFFFFF"/>
                          </a:solidFill>
                          <a:latin typeface="Arial"/>
                          <a:ea typeface="Arial"/>
                          <a:cs typeface="Arial"/>
                        </a:rPr>
                        <a:t>Before</a:t>
                      </a:r>
                    </a:p>
                  </a:txBody>
                  <a:tcPr marL="91440" marR="91440" marT="45720" marB="45720" anchor="ctr">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c>
                  <a:txBody>
                    <a:bodyPr/>
                    <a:lstStyle/>
                    <a:p>
                      <a:r>
                        <a:rPr sz="1425" b="1">
                          <a:solidFill>
                            <a:srgbClr val="FFFFFF"/>
                          </a:solidFill>
                          <a:latin typeface="Arial"/>
                          <a:ea typeface="Arial"/>
                          <a:cs typeface="Arial"/>
                        </a:rPr>
                        <a:t>After input filter</a:t>
                      </a:r>
                    </a:p>
                  </a:txBody>
                  <a:tcPr marL="91440" marR="91440" marT="45720" marB="45720" anchor="ctr">
                    <a:lnR w="9525">
                      <a:solidFill>
                        <a:srgbClr val="D7E1E8"/>
                      </a:solidFill>
                      <a:prstDash val="solid"/>
                    </a:lnR>
                    <a:lnT w="9525">
                      <a:solidFill>
                        <a:srgbClr val="D7E1E8"/>
                      </a:solidFill>
                      <a:prstDash val="solid"/>
                    </a:lnT>
                    <a:lnB w="9525">
                      <a:solidFill>
                        <a:srgbClr val="D7E1E8"/>
                      </a:solidFill>
                      <a:prstDash val="solid"/>
                    </a:lnB>
                    <a:solidFill>
                      <a:srgbClr val="081B2C"/>
                    </a:solidFill>
                  </a:tcPr>
                </a:tc>
              </a:tr>
              <a:tr h="544286">
                <a:tc>
                  <a:txBody>
                    <a:bodyPr/>
                    <a:lstStyle/>
                    <a:p>
                      <a:r>
                        <a:rPr sz="1275" b="1">
                          <a:solidFill>
                            <a:srgbClr val="10202E"/>
                          </a:solidFill>
                          <a:latin typeface="Arial"/>
                          <a:ea typeface="Arial"/>
                          <a:cs typeface="Arial"/>
                        </a:rPr>
                        <a:t>Model</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Qwen2.5-0.5B</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Same model</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PromptInject</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7 / 16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0 / 16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r h="544286">
                <a:tc>
                  <a:txBody>
                    <a:bodyPr/>
                    <a:lstStyle/>
                    <a:p>
                      <a:r>
                        <a:rPr sz="1275" b="1">
                          <a:solidFill>
                            <a:srgbClr val="10202E"/>
                          </a:solidFill>
                          <a:latin typeface="Arial"/>
                          <a:ea typeface="Arial"/>
                          <a:cs typeface="Arial"/>
                        </a:rPr>
                        <a:t>DAN detector</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1 / 1 failure</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0 / 1 failures</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Mitigation bypass</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1 / 1 failure</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0 / 1 failures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r h="544286">
                <a:tc>
                  <a:txBody>
                    <a:bodyPr/>
                    <a:lstStyle/>
                    <a:p>
                      <a:r>
                        <a:rPr sz="1275" b="1">
                          <a:solidFill>
                            <a:srgbClr val="10202E"/>
                          </a:solidFill>
                          <a:latin typeface="Arial"/>
                          <a:ea typeface="Arial"/>
                          <a:cs typeface="Arial"/>
                        </a:rPr>
                        <a:t>Observed behavior</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Attack marker and DAN acceptance</a:t>
                      </a:r>
                    </a:p>
                  </a:txBody>
                  <a:tcPr marL="91440" marR="91440" marT="45720" marB="45720" anchor="ctr">
                    <a:lnR w="9525">
                      <a:solidFill>
                        <a:srgbClr val="D7E1E8"/>
                      </a:solidFill>
                      <a:prstDash val="solid"/>
                    </a:lnR>
                    <a:lnB w="9525">
                      <a:solidFill>
                        <a:srgbClr val="D7E1E8"/>
                      </a:solidFill>
                      <a:prstDash val="solid"/>
                    </a:lnB>
                  </a:tcPr>
                </a:tc>
                <a:tc>
                  <a:txBody>
                    <a:bodyPr/>
                    <a:lstStyle/>
                    <a:p>
                      <a:r>
                        <a:rPr sz="1275" b="0">
                          <a:solidFill>
                            <a:srgbClr val="10202E"/>
                          </a:solidFill>
                          <a:latin typeface="Arial"/>
                          <a:ea typeface="Arial"/>
                          <a:cs typeface="Arial"/>
                        </a:rPr>
                        <a:t>15 PromptInject inputs and DAN blocked</a:t>
                      </a:r>
                    </a:p>
                  </a:txBody>
                  <a:tcPr marL="91440" marR="91440" marT="45720" marB="45720" anchor="ctr">
                    <a:lnR w="9525">
                      <a:solidFill>
                        <a:srgbClr val="D7E1E8"/>
                      </a:solidFill>
                      <a:prstDash val="solid"/>
                    </a:lnR>
                    <a:lnB w="9525">
                      <a:solidFill>
                        <a:srgbClr val="D7E1E8"/>
                      </a:solidFill>
                      <a:prstDash val="solid"/>
                    </a:lnB>
                  </a:tcPr>
                </a:tc>
              </a:tr>
              <a:tr h="544286">
                <a:tc>
                  <a:txBody>
                    <a:bodyPr/>
                    <a:lstStyle/>
                    <a:p>
                      <a:r>
                        <a:rPr sz="1275" b="1">
                          <a:solidFill>
                            <a:srgbClr val="10202E"/>
                          </a:solidFill>
                          <a:latin typeface="Arial"/>
                          <a:ea typeface="Arial"/>
                          <a:cs typeface="Arial"/>
                        </a:rPr>
                        <a:t>Remaining limit</a:t>
                      </a:r>
                    </a:p>
                  </a:txBody>
                  <a:tcPr marL="91440" marR="91440" marT="45720" marB="45720" anchor="ctr">
                    <a:lnL w="9525">
                      <a:solidFill>
                        <a:srgbClr val="D7E1E8"/>
                      </a:solidFill>
                      <a:prstDash val="solid"/>
                    </a:lnL>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No pipeline filter</a:t>
                      </a:r>
                    </a:p>
                  </a:txBody>
                  <a:tcPr marL="91440" marR="91440" marT="45720" marB="45720" anchor="ctr">
                    <a:lnR w="9525">
                      <a:solidFill>
                        <a:srgbClr val="D7E1E8"/>
                      </a:solidFill>
                      <a:prstDash val="solid"/>
                    </a:lnR>
                    <a:lnB w="9525">
                      <a:solidFill>
                        <a:srgbClr val="D7E1E8"/>
                      </a:solidFill>
                      <a:prstDash val="solid"/>
                    </a:lnB>
                    <a:solidFill>
                      <a:srgbClr val="F3F7FA"/>
                    </a:solidFill>
                  </a:tcPr>
                </a:tc>
                <a:tc>
                  <a:txBody>
                    <a:bodyPr/>
                    <a:lstStyle/>
                    <a:p>
                      <a:r>
                        <a:rPr sz="1275" b="0">
                          <a:solidFill>
                            <a:srgbClr val="10202E"/>
                          </a:solidFill>
                          <a:latin typeface="Arial"/>
                          <a:ea typeface="Arial"/>
                          <a:cs typeface="Arial"/>
                        </a:rPr>
                        <a:t>Keyword bypass and false positives</a:t>
                      </a:r>
                    </a:p>
                  </a:txBody>
                  <a:tcPr marL="91440" marR="91440" marT="45720" marB="45720" anchor="ctr">
                    <a:lnR w="9525">
                      <a:solidFill>
                        <a:srgbClr val="D7E1E8"/>
                      </a:solidFill>
                      <a:prstDash val="solid"/>
                    </a:lnR>
                    <a:lnB w="9525">
                      <a:solidFill>
                        <a:srgbClr val="D7E1E8"/>
                      </a:solidFill>
                      <a:prstDash val="solid"/>
                    </a:lnB>
                    <a:solidFill>
                      <a:srgbClr val="F3F7FA"/>
                    </a:solidFill>
                  </a:tcPr>
                </a:tc>
              </a:tr>
            </a:tbl>
          </a:graphicData>
        </a:graphic>
      </p:graphicFrame>
      <p:sp>
        <p:nvSpPr>
          <p:cNvPr id="5" name="">
            <a:extLst xmlns:a="http://schemas.openxmlformats.org/drawingml/2006/main">
              <a:ext uri="{FF2B5EF4-FFF2-40B4-BE49-F238E27FC236}">
                <a16:creationId xmlns:a16="http://schemas.microsoft.com/office/drawing/2014/main" id="{7BC20B62-9355-448D-81AF-D54015E1014B}"/>
              </a:ext>
            </a:extLst>
          </p:cNvPr>
          <p:cNvSpPr>
            <a:spLocks xmlns:a="http://schemas.openxmlformats.org/drawingml/2006/main" noGrp="1"/>
          </p:cNvSpPr>
          <p:nvPr/>
        </p:nvSpPr>
        <p:spPr>
          <a:xfrm xmlns:a="http://schemas.openxmlformats.org/drawingml/2006/main">
            <a:off x="666750" y="547687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b="1">
                <a:solidFill>
                  <a:srgbClr val="1775A8"/>
                </a:solidFill>
                <a:latin typeface="Arial"/>
                <a:ea typeface="Arial"/>
                <a:cs typeface="Arial"/>
              </a:defRPr>
            </a:defPPr>
          </a:lstStyle>
          <a:p xmlns:a="http://schemas.openxmlformats.org/drawingml/2006/main">
            <a:pPr>
              <a:defRPr sz="1425" b="1">
                <a:solidFill>
                  <a:srgbClr val="1775A8"/>
                </a:solidFill>
                <a:latin typeface="Arial"/>
                <a:ea typeface="Arial"/>
                <a:cs typeface="Arial"/>
              </a:defRPr>
            </a:pPr>
            <a:r>
              <a:rPr sz="1425" b="1">
                <a:solidFill>
                  <a:srgbClr val="1775A8"/>
                </a:solidFill>
                <a:latin typeface="Arial"/>
                <a:ea typeface="Arial"/>
                <a:cs typeface="Arial"/>
              </a:rPr>
              <a:t>Interpretation</a:t>
            </a:r>
          </a:p>
        </p:txBody>
      </p:sp>
      <p:sp>
        <p:nvSpPr>
          <p:cNvPr id="6" name="">
            <a:extLst xmlns:a="http://schemas.openxmlformats.org/drawingml/2006/main">
              <a:ext uri="{FF2B5EF4-FFF2-40B4-BE49-F238E27FC236}">
                <a16:creationId xmlns:a16="http://schemas.microsoft.com/office/drawing/2014/main" id="{73211290-A83E-4C37-87F3-93B1825BE3CB}"/>
              </a:ext>
            </a:extLst>
          </p:cNvPr>
          <p:cNvSpPr>
            <a:spLocks xmlns:a="http://schemas.openxmlformats.org/drawingml/2006/main" noGrp="1"/>
          </p:cNvSpPr>
          <p:nvPr/>
        </p:nvSpPr>
        <p:spPr>
          <a:xfrm xmlns:a="http://schemas.openxmlformats.org/drawingml/2006/main">
            <a:off x="2381250" y="542925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081B2C"/>
                </a:solidFill>
                <a:latin typeface="Arial"/>
                <a:ea typeface="Arial"/>
                <a:cs typeface="Arial"/>
              </a:defRPr>
            </a:defPPr>
          </a:lstStyle>
          <a:p xmlns:a="http://schemas.openxmlformats.org/drawingml/2006/main">
            <a:pPr>
              <a:defRPr sz="1650" b="1">
                <a:solidFill>
                  <a:srgbClr val="081B2C"/>
                </a:solidFill>
                <a:latin typeface="Arial"/>
                <a:ea typeface="Arial"/>
                <a:cs typeface="Arial"/>
              </a:defRPr>
            </a:pPr>
            <a:r>
              <a:rPr sz="1650" b="1">
                <a:solidFill>
                  <a:srgbClr val="081B2C"/>
                </a:solidFill>
                <a:latin typeface="Arial"/>
                <a:ea typeface="Arial"/>
                <a:cs typeface="Arial"/>
              </a:rPr>
              <a:t>The filter improved the selected signatures, but the result depends on a narrow sample and a rule that attackers can evade.</a:t>
            </a:r>
          </a:p>
        </p:txBody>
      </p:sp>
      <p:sp>
        <p:nvSpPr>
          <p:cNvPr id="7" name="">
            <a:extLst xmlns:a="http://schemas.openxmlformats.org/drawingml/2006/main">
              <a:ext uri="{FF2B5EF4-FFF2-40B4-BE49-F238E27FC236}">
                <a16:creationId xmlns:a16="http://schemas.microsoft.com/office/drawing/2014/main" id="{1E4637B2-1EAB-461B-B508-4B76C5512196}"/>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8888075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4CED203-51B0-4C20-BC9F-ED27EA165F3B}"/>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Limitations residual risks and recommendations</a:t>
            </a:r>
          </a:p>
        </p:txBody>
      </p:sp>
      <p:sp>
        <p:nvSpPr>
          <p:cNvPr id="2" name="">
            <a:extLst xmlns:a="http://schemas.openxmlformats.org/drawingml/2006/main">
              <a:ext uri="{FF2B5EF4-FFF2-40B4-BE49-F238E27FC236}">
                <a16:creationId xmlns:a16="http://schemas.microsoft.com/office/drawing/2014/main" id="{65D9DF15-7DA4-44EA-AB57-A78F25A84324}"/>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4BE908-6DAB-4A74-B717-BA202E0D23EE}"/>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9958F145-CA8B-4D1E-8D0B-8236A76C1214}"/>
              </a:ext>
            </a:extLst>
          </p:cNvPr>
          <p:cNvSpPr>
            <a:spLocks xmlns:a="http://schemas.openxmlformats.org/drawingml/2006/main" noGrp="1"/>
          </p:cNvSpPr>
          <p:nvPr/>
        </p:nvSpPr>
        <p:spPr>
          <a:xfrm xmlns:a="http://schemas.openxmlformats.org/drawingml/2006/main">
            <a:off x="666750" y="14287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D75050"/>
                </a:solidFill>
                <a:latin typeface="Arial"/>
                <a:ea typeface="Arial"/>
                <a:cs typeface="Arial"/>
              </a:defRPr>
            </a:defPPr>
          </a:lstStyle>
          <a:p xmlns:a="http://schemas.openxmlformats.org/drawingml/2006/main">
            <a:pPr>
              <a:defRPr sz="2250" b="1">
                <a:solidFill>
                  <a:srgbClr val="D75050"/>
                </a:solidFill>
                <a:latin typeface="Arial"/>
                <a:ea typeface="Arial"/>
                <a:cs typeface="Arial"/>
              </a:defRPr>
            </a:pPr>
            <a:r>
              <a:rPr sz="2250" b="1">
                <a:solidFill>
                  <a:srgbClr val="D75050"/>
                </a:solidFill>
                <a:latin typeface="Arial"/>
                <a:ea typeface="Arial"/>
                <a:cs typeface="Arial"/>
              </a:rPr>
              <a:t>Limits</a:t>
            </a:r>
          </a:p>
        </p:txBody>
      </p:sp>
      <p:sp>
        <p:nvSpPr>
          <p:cNvPr id="5" name="">
            <a:extLst xmlns:a="http://schemas.openxmlformats.org/drawingml/2006/main">
              <a:ext uri="{FF2B5EF4-FFF2-40B4-BE49-F238E27FC236}">
                <a16:creationId xmlns:a16="http://schemas.microsoft.com/office/drawing/2014/main" id="{CFDD921C-F4E0-4D0E-857B-D60BB580EA03}"/>
              </a:ext>
            </a:extLst>
          </p:cNvPr>
          <p:cNvSpPr>
            <a:spLocks xmlns:a="http://schemas.openxmlformats.org/drawingml/2006/main" noGrp="1"/>
          </p:cNvSpPr>
          <p:nvPr/>
        </p:nvSpPr>
        <p:spPr>
          <a:xfrm xmlns:a="http://schemas.openxmlformats.org/drawingml/2006/main">
            <a:off x="666750" y="2047875"/>
            <a:ext cx="47625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Only 17 attack prompts and one random seed</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DAN evidence comes from one prompt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Exact-string detection missed a reformatted marker</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The 0.5B target differs from the paper's 7B model</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Keyword filter can be bypassed</a:t>
            </a:r>
          </a:p>
        </p:txBody>
      </p:sp>
      <p:sp>
        <p:nvSpPr>
          <p:cNvPr id="6" name="">
            <a:extLst xmlns:a="http://schemas.openxmlformats.org/drawingml/2006/main">
              <a:ext uri="{FF2B5EF4-FFF2-40B4-BE49-F238E27FC236}">
                <a16:creationId xmlns:a16="http://schemas.microsoft.com/office/drawing/2014/main" id="{D889E510-9F1D-4D59-9E83-860FA2E5AE97}"/>
              </a:ext>
            </a:extLst>
          </p:cNvPr>
          <p:cNvSpPr>
            <a:spLocks xmlns:a="http://schemas.openxmlformats.org/drawingml/2006/main" noGrp="1"/>
          </p:cNvSpPr>
          <p:nvPr/>
        </p:nvSpPr>
        <p:spPr>
          <a:xfrm xmlns:a="http://schemas.openxmlformats.org/drawingml/2006/main">
            <a:off x="666750" y="53816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1">
                <a:solidFill>
                  <a:srgbClr val="536575"/>
                </a:solidFill>
                <a:latin typeface="Arial"/>
                <a:ea typeface="Arial"/>
                <a:cs typeface="Arial"/>
              </a:defRPr>
            </a:defPPr>
          </a:lstStyle>
          <a:p xmlns:a="http://schemas.openxmlformats.org/drawingml/2006/main">
            <a:pPr>
              <a:defRPr sz="1500" b="1">
                <a:solidFill>
                  <a:srgbClr val="536575"/>
                </a:solidFill>
                <a:latin typeface="Arial"/>
                <a:ea typeface="Arial"/>
                <a:cs typeface="Arial"/>
              </a:defRPr>
            </a:pPr>
            <a:r>
              <a:rPr sz="1500" b="1">
                <a:solidFill>
                  <a:srgbClr val="536575"/>
                </a:solidFill>
                <a:latin typeface="Arial"/>
                <a:ea typeface="Arial"/>
                <a:cs typeface="Arial"/>
              </a:rPr>
              <a:t>Residual usability risk</a:t>
            </a:r>
          </a:p>
        </p:txBody>
      </p:sp>
      <p:sp>
        <p:nvSpPr>
          <p:cNvPr id="7" name="">
            <a:extLst xmlns:a="http://schemas.openxmlformats.org/drawingml/2006/main">
              <a:ext uri="{FF2B5EF4-FFF2-40B4-BE49-F238E27FC236}">
                <a16:creationId xmlns:a16="http://schemas.microsoft.com/office/drawing/2014/main" id="{9C571183-72B7-49F7-B94D-701A5E88731D}"/>
              </a:ext>
            </a:extLst>
          </p:cNvPr>
          <p:cNvSpPr>
            <a:spLocks xmlns:a="http://schemas.openxmlformats.org/drawingml/2006/main" noGrp="1"/>
          </p:cNvSpPr>
          <p:nvPr/>
        </p:nvSpPr>
        <p:spPr>
          <a:xfrm xmlns:a="http://schemas.openxmlformats.org/drawingml/2006/main">
            <a:off x="3190875" y="5334000"/>
            <a:ext cx="533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1">
                <a:solidFill>
                  <a:srgbClr val="D75050"/>
                </a:solidFill>
                <a:latin typeface="Arial"/>
                <a:ea typeface="Arial"/>
                <a:cs typeface="Arial"/>
              </a:defRPr>
            </a:defPPr>
          </a:lstStyle>
          <a:p xmlns:a="http://schemas.openxmlformats.org/drawingml/2006/main">
            <a:pPr>
              <a:defRPr sz="1650" b="1">
                <a:solidFill>
                  <a:srgbClr val="D75050"/>
                </a:solidFill>
                <a:latin typeface="Arial"/>
                <a:ea typeface="Arial"/>
                <a:cs typeface="Arial"/>
              </a:defRPr>
            </a:pPr>
            <a:r>
              <a:rPr sz="1650" b="1">
                <a:solidFill>
                  <a:srgbClr val="D75050"/>
                </a:solidFill>
                <a:latin typeface="Arial"/>
                <a:ea typeface="Arial"/>
                <a:cs typeface="Arial"/>
              </a:rPr>
              <a:t>3 of 20 benign prompts were blocked  |  15% on this convenience sample</a:t>
            </a:r>
          </a:p>
        </p:txBody>
      </p:sp>
      <p:sp>
        <p:nvSpPr>
          <p:cNvPr id="8" name="">
            <a:extLst xmlns:a="http://schemas.openxmlformats.org/drawingml/2006/main">
              <a:ext uri="{FF2B5EF4-FFF2-40B4-BE49-F238E27FC236}">
                <a16:creationId xmlns:a16="http://schemas.microsoft.com/office/drawing/2014/main" id="{00BF2400-56CC-44F3-8736-7B14D1623B6C}"/>
              </a:ext>
            </a:extLst>
          </p:cNvPr>
          <p:cNvSpPr>
            <a:spLocks xmlns:a="http://schemas.openxmlformats.org/drawingml/2006/main" noGrp="1"/>
          </p:cNvSpPr>
          <p:nvPr/>
        </p:nvSpPr>
        <p:spPr>
          <a:xfrm xmlns:a="http://schemas.openxmlformats.org/drawingml/2006/main">
            <a:off x="5953125" y="1428750"/>
            <a:ext cx="19050" cy="44767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8B1C154-A0C1-45F2-AD15-ECD61A5E79BF}"/>
              </a:ext>
            </a:extLst>
          </p:cNvPr>
          <p:cNvSpPr>
            <a:spLocks xmlns:a="http://schemas.openxmlformats.org/drawingml/2006/main" noGrp="1"/>
          </p:cNvSpPr>
          <p:nvPr/>
        </p:nvSpPr>
        <p:spPr>
          <a:xfrm xmlns:a="http://schemas.openxmlformats.org/drawingml/2006/main">
            <a:off x="6572250" y="142875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250" b="1">
                <a:solidFill>
                  <a:srgbClr val="2A9D78"/>
                </a:solidFill>
                <a:latin typeface="Arial"/>
                <a:ea typeface="Arial"/>
                <a:cs typeface="Arial"/>
              </a:defRPr>
            </a:defPPr>
          </a:lstStyle>
          <a:p xmlns:a="http://schemas.openxmlformats.org/drawingml/2006/main">
            <a:pPr>
              <a:defRPr sz="2250" b="1">
                <a:solidFill>
                  <a:srgbClr val="2A9D78"/>
                </a:solidFill>
                <a:latin typeface="Arial"/>
                <a:ea typeface="Arial"/>
                <a:cs typeface="Arial"/>
              </a:defRPr>
            </a:pPr>
            <a:r>
              <a:rPr sz="2250" b="1">
                <a:solidFill>
                  <a:srgbClr val="2A9D78"/>
                </a:solidFill>
                <a:latin typeface="Arial"/>
                <a:ea typeface="Arial"/>
                <a:cs typeface="Arial"/>
              </a:rPr>
              <a:t>Recommendations</a:t>
            </a:r>
          </a:p>
        </p:txBody>
      </p:sp>
      <p:sp>
        <p:nvSpPr>
          <p:cNvPr id="10" name="">
            <a:extLst xmlns:a="http://schemas.openxmlformats.org/drawingml/2006/main">
              <a:ext uri="{FF2B5EF4-FFF2-40B4-BE49-F238E27FC236}">
                <a16:creationId xmlns:a16="http://schemas.microsoft.com/office/drawing/2014/main" id="{C4BFB9DD-BA4A-460C-8A43-2F3F14195807}"/>
              </a:ext>
            </a:extLst>
          </p:cNvPr>
          <p:cNvSpPr>
            <a:spLocks xmlns:a="http://schemas.openxmlformats.org/drawingml/2006/main" noGrp="1"/>
          </p:cNvSpPr>
          <p:nvPr/>
        </p:nvSpPr>
        <p:spPr>
          <a:xfrm xmlns:a="http://schemas.openxmlformats.org/drawingml/2006/main">
            <a:off x="6572250" y="2047875"/>
            <a:ext cx="47625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725">
                <a:solidFill>
                  <a:srgbClr val="10202E"/>
                </a:solidFill>
                <a:latin typeface="Arial"/>
                <a:ea typeface="Arial"/>
                <a:cs typeface="Arial"/>
              </a:defRPr>
            </a:defPPr>
          </a:lstStyle>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Separate trusted instructions from retrieved content</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Restrict tool permissions and require human approval</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Validate output and tool arguments before execution</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Add adaptive, multilingual, encoded, and multi-turn attacks</a:t>
            </a:r>
          </a:p>
          <a:p xmlns:a="http://schemas.openxmlformats.org/drawingml/2006/main">
            <a:pPr marL="228600" indent="-114300">
              <a:spcAft>
                <a:spcPts val="1000"/>
              </a:spcAft>
              <a:buChar char="•"/>
              <a:defRPr sz="1725">
                <a:solidFill>
                  <a:srgbClr val="10202E"/>
                </a:solidFill>
                <a:latin typeface="Arial"/>
                <a:ea typeface="Arial"/>
                <a:cs typeface="Arial"/>
              </a:defRPr>
            </a:pPr>
            <a:r>
              <a:rPr sz="1725">
                <a:solidFill>
                  <a:srgbClr val="10202E"/>
                </a:solidFill>
                <a:latin typeface="Arial"/>
                <a:ea typeface="Arial"/>
                <a:cs typeface="Arial"/>
              </a:rPr>
              <a:t>Measure false positives on representative benign traffic</a:t>
            </a:r>
          </a:p>
        </p:txBody>
      </p:sp>
      <p:sp>
        <p:nvSpPr>
          <p:cNvPr id="11" name="">
            <a:extLst xmlns:a="http://schemas.openxmlformats.org/drawingml/2006/main">
              <a:ext uri="{FF2B5EF4-FFF2-40B4-BE49-F238E27FC236}">
                <a16:creationId xmlns:a16="http://schemas.microsoft.com/office/drawing/2014/main" id="{C2C98C1D-68EF-45B9-A715-2728D2897145}"/>
              </a:ext>
            </a:extLst>
          </p:cNvPr>
          <p:cNvSpPr>
            <a:spLocks xmlns:a="http://schemas.openxmlformats.org/drawingml/2006/main" noGrp="1"/>
          </p:cNvSpPr>
          <p:nvPr/>
        </p:nvSpPr>
        <p:spPr>
          <a:xfrm xmlns:a="http://schemas.openxmlformats.org/drawingml/2006/main">
            <a:off x="6572250" y="54768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00" b="1">
                <a:solidFill>
                  <a:srgbClr val="081B2C"/>
                </a:solidFill>
                <a:latin typeface="Arial"/>
                <a:ea typeface="Arial"/>
                <a:cs typeface="Arial"/>
              </a:defRPr>
            </a:defPPr>
          </a:lstStyle>
          <a:p xmlns:a="http://schemas.openxmlformats.org/drawingml/2006/main">
            <a:pPr>
              <a:defRPr sz="1800" b="1">
                <a:solidFill>
                  <a:srgbClr val="081B2C"/>
                </a:solidFill>
                <a:latin typeface="Arial"/>
                <a:ea typeface="Arial"/>
                <a:cs typeface="Arial"/>
              </a:defRPr>
            </a:pPr>
            <a:r>
              <a:rPr sz="1800" b="1">
                <a:solidFill>
                  <a:srgbClr val="081B2C"/>
                </a:solidFill>
                <a:latin typeface="Arial"/>
                <a:ea typeface="Arial"/>
                <a:cs typeface="Arial"/>
              </a:rPr>
              <a:t>Passing this test set does not establish complete safety.</a:t>
            </a:r>
          </a:p>
        </p:txBody>
      </p:sp>
      <p:sp>
        <p:nvSpPr>
          <p:cNvPr id="12" name="">
            <a:extLst xmlns:a="http://schemas.openxmlformats.org/drawingml/2006/main">
              <a:ext uri="{FF2B5EF4-FFF2-40B4-BE49-F238E27FC236}">
                <a16:creationId xmlns:a16="http://schemas.microsoft.com/office/drawing/2014/main" id="{8A2E63AE-A25A-40B5-846F-31BB57947D27}"/>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Controlled local evaluation  |  seed 42</a:t>
            </a:r>
          </a:p>
        </p:txBody>
      </p:sp>
    </p:spTree>
    <p:extLst>
      <p:ext uri="{BB962C8B-B14F-4D97-AF65-F5344CB8AC3E}">
        <p14:creationId xmlns:p14="http://schemas.microsoft.com/office/powerpoint/2010/main" val="196407246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A2BA5D-E282-4208-BAE2-E274259334D7}"/>
              </a:ext>
            </a:extLst>
          </p:cNvPr>
          <p:cNvSpPr>
            <a:spLocks xmlns:a="http://schemas.openxmlformats.org/drawingml/2006/main" noGrp="1"/>
          </p:cNvSpPr>
          <p:nvPr/>
        </p:nvSpPr>
        <p:spPr>
          <a:xfrm xmlns:a="http://schemas.openxmlformats.org/drawingml/2006/main">
            <a:off x="666750" y="41910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081B2C"/>
                </a:solidFill>
                <a:latin typeface="Arial"/>
                <a:ea typeface="Arial"/>
                <a:cs typeface="Arial"/>
              </a:defRPr>
            </a:defPPr>
          </a:lstStyle>
          <a:p xmlns:a="http://schemas.openxmlformats.org/drawingml/2006/main">
            <a:pPr>
              <a:defRPr sz="3300" b="1">
                <a:solidFill>
                  <a:srgbClr val="081B2C"/>
                </a:solidFill>
                <a:latin typeface="Arial"/>
                <a:ea typeface="Arial"/>
                <a:cs typeface="Arial"/>
              </a:defRPr>
            </a:pPr>
            <a:r>
              <a:rPr sz="3300" b="1">
                <a:solidFill>
                  <a:srgbClr val="081B2C"/>
                </a:solidFill>
                <a:latin typeface="Arial"/>
                <a:ea typeface="Arial"/>
                <a:cs typeface="Arial"/>
              </a:rPr>
              <a:t>References and AI use declaration</a:t>
            </a:r>
          </a:p>
        </p:txBody>
      </p:sp>
      <p:sp>
        <p:nvSpPr>
          <p:cNvPr id="2" name="">
            <a:extLst xmlns:a="http://schemas.openxmlformats.org/drawingml/2006/main">
              <a:ext uri="{FF2B5EF4-FFF2-40B4-BE49-F238E27FC236}">
                <a16:creationId xmlns:a16="http://schemas.microsoft.com/office/drawing/2014/main" id="{724DFB5E-191A-4D0C-9494-3B8BF2CC0F95}"/>
              </a:ext>
            </a:extLst>
          </p:cNvPr>
          <p:cNvSpPr>
            <a:spLocks xmlns:a="http://schemas.openxmlformats.org/drawingml/2006/main" noGrp="1"/>
          </p:cNvSpPr>
          <p:nvPr/>
        </p:nvSpPr>
        <p:spPr>
          <a:xfrm xmlns:a="http://schemas.openxmlformats.org/drawingml/2006/main">
            <a:off x="666750" y="1028700"/>
            <a:ext cx="10858500" cy="28575"/>
          </a:xfrm>
          <a:prstGeom xmlns:a="http://schemas.openxmlformats.org/drawingml/2006/main" prst="rect">
            <a:avLst/>
          </a:prstGeom>
          <a:solidFill xmlns:a="http://schemas.openxmlformats.org/drawingml/2006/main">
            <a:srgbClr val="35B6D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6D80F4-0B65-4146-8D53-1033BD2B9DE4}"/>
              </a:ext>
            </a:extLst>
          </p:cNvPr>
          <p:cNvSpPr>
            <a:spLocks xmlns:a="http://schemas.openxmlformats.org/drawingml/2006/main" noGrp="1"/>
          </p:cNvSpPr>
          <p:nvPr/>
        </p:nvSpPr>
        <p:spPr>
          <a:xfrm xmlns:a="http://schemas.openxmlformats.org/drawingml/2006/main">
            <a:off x="10953750" y="447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350" b="1">
                <a:solidFill>
                  <a:srgbClr val="536575"/>
                </a:solidFill>
                <a:latin typeface="Arial"/>
                <a:ea typeface="Arial"/>
                <a:cs typeface="Arial"/>
              </a:defRPr>
            </a:defPPr>
          </a:lstStyle>
          <a:p xmlns:a="http://schemas.openxmlformats.org/drawingml/2006/main">
            <a:pPr>
              <a:defRPr sz="1350" b="1">
                <a:solidFill>
                  <a:srgbClr val="536575"/>
                </a:solidFill>
                <a:latin typeface="Arial"/>
                <a:ea typeface="Arial"/>
                <a:cs typeface="Arial"/>
              </a:defRPr>
            </a:pPr>
            <a:r>
              <a:rPr sz="1350" b="1">
                <a:solidFill>
                  <a:srgbClr val="53657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0226263-B009-4EF6-86C0-2B738B3E53E7}"/>
              </a:ext>
            </a:extLst>
          </p:cNvPr>
          <p:cNvSpPr>
            <a:spLocks xmlns:a="http://schemas.openxmlformats.org/drawingml/2006/main" noGrp="1"/>
          </p:cNvSpPr>
          <p:nvPr/>
        </p:nvSpPr>
        <p:spPr>
          <a:xfrm xmlns:a="http://schemas.openxmlformats.org/drawingml/2006/main">
            <a:off x="666750" y="14287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[1] Xin et al. Jailbreaking Attacks vs. Content Safety Filters. Findings of ACL 2026. doi:10.18653/v1/2026.findings-acl.20</a:t>
            </a:r>
          </a:p>
        </p:txBody>
      </p:sp>
      <p:sp>
        <p:nvSpPr>
          <p:cNvPr id="5" name="">
            <a:extLst xmlns:a="http://schemas.openxmlformats.org/drawingml/2006/main">
              <a:ext uri="{FF2B5EF4-FFF2-40B4-BE49-F238E27FC236}">
                <a16:creationId xmlns:a16="http://schemas.microsoft.com/office/drawing/2014/main" id="{EAC0C1A7-3F46-4B36-AB2B-A92850E13015}"/>
              </a:ext>
            </a:extLst>
          </p:cNvPr>
          <p:cNvSpPr>
            <a:spLocks xmlns:a="http://schemas.openxmlformats.org/drawingml/2006/main" noGrp="1"/>
          </p:cNvSpPr>
          <p:nvPr/>
        </p:nvSpPr>
        <p:spPr>
          <a:xfrm xmlns:a="http://schemas.openxmlformats.org/drawingml/2006/main">
            <a:off x="666750" y="212407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[2] NVIDIA. garak Generative AI Red-teaming and Assessment Kit. https://github.com/NVIDIA/garak</a:t>
            </a:r>
          </a:p>
        </p:txBody>
      </p:sp>
      <p:sp>
        <p:nvSpPr>
          <p:cNvPr id="6" name="">
            <a:extLst xmlns:a="http://schemas.openxmlformats.org/drawingml/2006/main">
              <a:ext uri="{FF2B5EF4-FFF2-40B4-BE49-F238E27FC236}">
                <a16:creationId xmlns:a16="http://schemas.microsoft.com/office/drawing/2014/main" id="{E0A89425-50DC-49BF-A86D-7245B17C2DBA}"/>
              </a:ext>
            </a:extLst>
          </p:cNvPr>
          <p:cNvSpPr>
            <a:spLocks xmlns:a="http://schemas.openxmlformats.org/drawingml/2006/main" noGrp="1"/>
          </p:cNvSpPr>
          <p:nvPr/>
        </p:nvSpPr>
        <p:spPr>
          <a:xfrm xmlns:a="http://schemas.openxmlformats.org/drawingml/2006/main">
            <a:off x="666750" y="28194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[3] Qwen Team. Qwen2.5-0.5B-Instruct model card. https://huggingface.co/Qwen/Qwen2.5-0.5B-Instruct</a:t>
            </a:r>
          </a:p>
        </p:txBody>
      </p:sp>
      <p:sp>
        <p:nvSpPr>
          <p:cNvPr id="7" name="">
            <a:extLst xmlns:a="http://schemas.openxmlformats.org/drawingml/2006/main">
              <a:ext uri="{FF2B5EF4-FFF2-40B4-BE49-F238E27FC236}">
                <a16:creationId xmlns:a16="http://schemas.microsoft.com/office/drawing/2014/main" id="{163AA29F-71CC-4F03-9ED2-57699D198285}"/>
              </a:ext>
            </a:extLst>
          </p:cNvPr>
          <p:cNvSpPr>
            <a:spLocks xmlns:a="http://schemas.openxmlformats.org/drawingml/2006/main" noGrp="1"/>
          </p:cNvSpPr>
          <p:nvPr/>
        </p:nvSpPr>
        <p:spPr>
          <a:xfrm xmlns:a="http://schemas.openxmlformats.org/drawingml/2006/main">
            <a:off x="666750" y="35147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0202E"/>
                </a:solidFill>
                <a:latin typeface="Arial"/>
                <a:ea typeface="Arial"/>
                <a:cs typeface="Arial"/>
              </a:defRPr>
            </a:defPPr>
          </a:lstStyle>
          <a:p xmlns:a="http://schemas.openxmlformats.org/drawingml/2006/main">
            <a:pPr>
              <a:defRPr sz="1425">
                <a:solidFill>
                  <a:srgbClr val="10202E"/>
                </a:solidFill>
                <a:latin typeface="Arial"/>
                <a:ea typeface="Arial"/>
                <a:cs typeface="Arial"/>
              </a:defRPr>
            </a:pPr>
            <a:r>
              <a:rPr sz="1425">
                <a:solidFill>
                  <a:srgbClr val="10202E"/>
                </a:solidFill>
                <a:latin typeface="Arial"/>
                <a:ea typeface="Arial"/>
                <a:cs typeface="Arial"/>
              </a:rPr>
              <a:t>[4] Perez and Ribeiro. Ignore Previous Prompt. NeurIPS ML Safety Workshop 2022. arXiv:2211.09527</a:t>
            </a:r>
          </a:p>
        </p:txBody>
      </p:sp>
      <p:sp>
        <p:nvSpPr>
          <p:cNvPr id="8" name="">
            <a:extLst xmlns:a="http://schemas.openxmlformats.org/drawingml/2006/main">
              <a:ext uri="{FF2B5EF4-FFF2-40B4-BE49-F238E27FC236}">
                <a16:creationId xmlns:a16="http://schemas.microsoft.com/office/drawing/2014/main" id="{D2B35BD3-94B1-4D48-905A-3D31DE60B8ED}"/>
              </a:ext>
            </a:extLst>
          </p:cNvPr>
          <p:cNvSpPr>
            <a:spLocks xmlns:a="http://schemas.openxmlformats.org/drawingml/2006/main" noGrp="1"/>
          </p:cNvSpPr>
          <p:nvPr/>
        </p:nvSpPr>
        <p:spPr>
          <a:xfrm xmlns:a="http://schemas.openxmlformats.org/drawingml/2006/main">
            <a:off x="666750" y="4333875"/>
            <a:ext cx="10858500" cy="19050"/>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7BDA43-52FF-484F-80CC-8547B739DFFD}"/>
              </a:ext>
            </a:extLst>
          </p:cNvPr>
          <p:cNvSpPr>
            <a:spLocks xmlns:a="http://schemas.openxmlformats.org/drawingml/2006/main" noGrp="1"/>
          </p:cNvSpPr>
          <p:nvPr/>
        </p:nvSpPr>
        <p:spPr>
          <a:xfrm xmlns:a="http://schemas.openxmlformats.org/drawingml/2006/main">
            <a:off x="666750" y="46196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875" b="1">
                <a:solidFill>
                  <a:srgbClr val="1775A8"/>
                </a:solidFill>
                <a:latin typeface="Arial"/>
                <a:ea typeface="Arial"/>
                <a:cs typeface="Arial"/>
              </a:defRPr>
            </a:defPPr>
          </a:lstStyle>
          <a:p xmlns:a="http://schemas.openxmlformats.org/drawingml/2006/main">
            <a:pPr>
              <a:defRPr sz="1875" b="1">
                <a:solidFill>
                  <a:srgbClr val="1775A8"/>
                </a:solidFill>
                <a:latin typeface="Arial"/>
                <a:ea typeface="Arial"/>
                <a:cs typeface="Arial"/>
              </a:defRPr>
            </a:pPr>
            <a:r>
              <a:rPr sz="1875" b="1">
                <a:solidFill>
                  <a:srgbClr val="1775A8"/>
                </a:solidFill>
                <a:latin typeface="Arial"/>
                <a:ea typeface="Arial"/>
                <a:cs typeface="Arial"/>
              </a:rPr>
              <a:t>AI Use Declaration</a:t>
            </a:r>
          </a:p>
        </p:txBody>
      </p:sp>
      <p:sp>
        <p:nvSpPr>
          <p:cNvPr id="10" name="">
            <a:extLst xmlns:a="http://schemas.openxmlformats.org/drawingml/2006/main">
              <a:ext uri="{FF2B5EF4-FFF2-40B4-BE49-F238E27FC236}">
                <a16:creationId xmlns:a16="http://schemas.microsoft.com/office/drawing/2014/main" id="{E7BC2770-FFEF-429D-B022-1DD3A1169108}"/>
              </a:ext>
            </a:extLst>
          </p:cNvPr>
          <p:cNvSpPr>
            <a:spLocks xmlns:a="http://schemas.openxmlformats.org/drawingml/2006/main" noGrp="1"/>
          </p:cNvSpPr>
          <p:nvPr/>
        </p:nvSpPr>
        <p:spPr>
          <a:xfrm xmlns:a="http://schemas.openxmlformats.org/drawingml/2006/main">
            <a:off x="666750" y="5095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0202E"/>
                </a:solidFill>
                <a:latin typeface="Arial"/>
                <a:ea typeface="Arial"/>
                <a:cs typeface="Arial"/>
              </a:defRPr>
            </a:defPPr>
          </a:lstStyle>
          <a:p xmlns:a="http://schemas.openxmlformats.org/drawingml/2006/main">
            <a:pPr>
              <a:defRPr sz="1500">
                <a:solidFill>
                  <a:srgbClr val="10202E"/>
                </a:solidFill>
                <a:latin typeface="Arial"/>
                <a:ea typeface="Arial"/>
                <a:cs typeface="Arial"/>
              </a:defRPr>
            </a:pPr>
            <a:r>
              <a:rPr sz="1500">
                <a:solidFill>
                  <a:srgbClr val="10202E"/>
                </a:solidFill>
                <a:latin typeface="Arial"/>
                <a:ea typeface="Arial"/>
                <a:cs typeface="Arial"/>
              </a:rPr>
              <a:t>ChatGPT Codex assisted with environment setup, reproducibility scripts, log summaries, language, and formatting. I selected the paper, reviewed the evidence, checked model responses, and remain responsible for the interpretation. I verified references against the ACL Anthology, official garak sources, the Qwen model card, and saved reports.</a:t>
            </a:r>
          </a:p>
        </p:txBody>
      </p:sp>
      <p:sp>
        <p:nvSpPr>
          <p:cNvPr id="11" name="">
            <a:extLst xmlns:a="http://schemas.openxmlformats.org/drawingml/2006/main">
              <a:ext uri="{FF2B5EF4-FFF2-40B4-BE49-F238E27FC236}">
                <a16:creationId xmlns:a16="http://schemas.microsoft.com/office/drawing/2014/main" id="{4B2626F0-3337-41E5-BCDB-6B27BAE8933E}"/>
              </a:ext>
            </a:extLst>
          </p:cNvPr>
          <p:cNvSpPr>
            <a:spLocks xmlns:a="http://schemas.openxmlformats.org/drawingml/2006/main" noGrp="1"/>
          </p:cNvSpPr>
          <p:nvPr/>
        </p:nvSpPr>
        <p:spPr>
          <a:xfrm xmlns:a="http://schemas.openxmlformats.org/drawingml/2006/main">
            <a:off x="666750" y="6467475"/>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050">
                <a:solidFill>
                  <a:srgbClr val="536575"/>
                </a:solidFill>
                <a:latin typeface="Arial"/>
                <a:ea typeface="Arial"/>
                <a:cs typeface="Arial"/>
              </a:defRPr>
            </a:defPPr>
          </a:lstStyle>
          <a:p xmlns:a="http://schemas.openxmlformats.org/drawingml/2006/main">
            <a:pPr>
              <a:defRPr sz="1050">
                <a:solidFill>
                  <a:srgbClr val="536575"/>
                </a:solidFill>
                <a:latin typeface="Arial"/>
                <a:ea typeface="Arial"/>
                <a:cs typeface="Arial"/>
              </a:defRPr>
            </a:pPr>
            <a:r>
              <a:rPr sz="1050">
                <a:solidFill>
                  <a:srgbClr val="536575"/>
                </a:solidFill>
                <a:latin typeface="Arial"/>
                <a:ea typeface="Arial"/>
                <a:cs typeface="Arial"/>
              </a:rPr>
              <a:t>Submission package includes PPTX  |  report  |  logs  |  reproducibility scripts</a:t>
            </a:r>
          </a:p>
        </p:txBody>
      </p:sp>
    </p:spTree>
    <p:extLst>
      <p:ext uri="{BB962C8B-B14F-4D97-AF65-F5344CB8AC3E}">
        <p14:creationId xmlns:p14="http://schemas.microsoft.com/office/powerpoint/2010/main" val="1018933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2026-10-16T11:50:09.2620000Z</dcterms:created>
  <dcterms:modified xsi:type="dcterms:W3CDTF">2026-10-16T11:50:09.2620000Z</dcterms:modified>
</coreProperties>
</file>