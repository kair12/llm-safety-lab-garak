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9ef08450af4a23" /><Relationship Type="http://schemas.openxmlformats.org/officeDocument/2006/relationships/extended-properties" Target="/docProps/app.xml" Id="R80e3c77c57544625" /><Relationship Type="http://schemas.openxmlformats.org/officeDocument/2006/relationships/officeDocument" Target="/ppt/presentation.xml" Id="R6852e8bec8364a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dce95423f5454f"/>
  </p:sldMasterIdLst>
  <p:notesMasterIdLst>
    <p:notesMasterId xmlns:r="http://schemas.openxmlformats.org/officeDocument/2006/relationships" r:id="R2e8e9db021ea4052"/>
  </p:notesMasterIdLst>
  <p:sldIdLst>
    <p:sldId xmlns:r="http://schemas.openxmlformats.org/officeDocument/2006/relationships" id="256" r:id="R4a0a8819afd641c5"/>
    <p:sldId xmlns:r="http://schemas.openxmlformats.org/officeDocument/2006/relationships" id="257" r:id="Rf5d4501735ed4a2a"/>
    <p:sldId xmlns:r="http://schemas.openxmlformats.org/officeDocument/2006/relationships" id="258" r:id="R300e1a8e5ff14e99"/>
    <p:sldId xmlns:r="http://schemas.openxmlformats.org/officeDocument/2006/relationships" id="259" r:id="Reaea3e4698154965"/>
    <p:sldId xmlns:r="http://schemas.openxmlformats.org/officeDocument/2006/relationships" id="260" r:id="Rcfd2ead732f94c71"/>
    <p:sldId xmlns:r="http://schemas.openxmlformats.org/officeDocument/2006/relationships" id="261" r:id="R7beb5a7168ae459b"/>
    <p:sldId xmlns:r="http://schemas.openxmlformats.org/officeDocument/2006/relationships" id="262" r:id="R104688af5ee141eb"/>
    <p:sldId xmlns:r="http://schemas.openxmlformats.org/officeDocument/2006/relationships" id="263" r:id="R7d25b33c1ac740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9181ff686c4052" /><Relationship Type="http://schemas.openxmlformats.org/officeDocument/2006/relationships/slideMaster" Target="/ppt/slideMasters/slideMaster1.xml" Id="R66dce95423f5454f" /><Relationship Type="http://schemas.openxmlformats.org/officeDocument/2006/relationships/notesMaster" Target="/ppt/notesMasters/notesMaster1.xml" Id="R2e8e9db021ea4052" /><Relationship Type="http://schemas.openxmlformats.org/officeDocument/2006/relationships/presProps" Target="/ppt/presProps.xml" Id="R370794a500144f0b" /><Relationship Type="http://schemas.openxmlformats.org/officeDocument/2006/relationships/tableStyles" Target="/ppt/tableStyles.xml" Id="R6bbdfc3446544ee6" /><Relationship Type="http://schemas.openxmlformats.org/officeDocument/2006/relationships/slide" Target="/ppt/slides/slide1.xml" Id="R4a0a8819afd641c5" /><Relationship Type="http://schemas.openxmlformats.org/officeDocument/2006/relationships/slide" Target="/ppt/slides/slide2.xml" Id="Rf5d4501735ed4a2a" /><Relationship Type="http://schemas.openxmlformats.org/officeDocument/2006/relationships/slide" Target="/ppt/slides/slide3.xml" Id="R300e1a8e5ff14e99" /><Relationship Type="http://schemas.openxmlformats.org/officeDocument/2006/relationships/slide" Target="/ppt/slides/slide4.xml" Id="Reaea3e4698154965" /><Relationship Type="http://schemas.openxmlformats.org/officeDocument/2006/relationships/slide" Target="/ppt/slides/slide5.xml" Id="Rcfd2ead732f94c71" /><Relationship Type="http://schemas.openxmlformats.org/officeDocument/2006/relationships/slide" Target="/ppt/slides/slide6.xml" Id="R7beb5a7168ae459b" /><Relationship Type="http://schemas.openxmlformats.org/officeDocument/2006/relationships/slide" Target="/ppt/slides/slide7.xml" Id="R104688af5ee141eb" /><Relationship Type="http://schemas.openxmlformats.org/officeDocument/2006/relationships/slide" Target="/ppt/slides/slide8.xml" Id="R7d25b33c1ac740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c078b7ad3245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ab92eeb42f463c" /><Relationship Type="http://schemas.openxmlformats.org/officeDocument/2006/relationships/notesMaster" Target="/ppt/notesMasters/notesMaster1.xml" Id="Re9ce8af8460c41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b31caadd354f34" /><Relationship Type="http://schemas.openxmlformats.org/officeDocument/2006/relationships/notesMaster" Target="/ppt/notesMasters/notesMaster1.xml" Id="R344e8527b23143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58297a29d64851" /><Relationship Type="http://schemas.openxmlformats.org/officeDocument/2006/relationships/notesMaster" Target="/ppt/notesMasters/notesMaster1.xml" Id="Ra0c323b99b0347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c8f11031804552" /><Relationship Type="http://schemas.openxmlformats.org/officeDocument/2006/relationships/notesMaster" Target="/ppt/notesMasters/notesMaster1.xml" Id="R5ef49d4a0de749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08849f62de418c" /><Relationship Type="http://schemas.openxmlformats.org/officeDocument/2006/relationships/notesMaster" Target="/ppt/notesMasters/notesMaster1.xml" Id="Rc17d90a11f8f40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f7e693f1ea4a9e" /><Relationship Type="http://schemas.openxmlformats.org/officeDocument/2006/relationships/notesMaster" Target="/ppt/notesMasters/notesMaster1.xml" Id="R4b357394a5744d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ac9a64e5e5458e" /><Relationship Type="http://schemas.openxmlformats.org/officeDocument/2006/relationships/notesMaster" Target="/ppt/notesMasters/notesMaster1.xml" Id="R417bb711c4be4e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64c6d63db644f0" /><Relationship Type="http://schemas.openxmlformats.org/officeDocument/2006/relationships/notesMaster" Target="/ppt/notesMasters/notesMaster1.xml" Id="R71f360ef078b47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Selected peer-reviewed paper: https://aclanthology.org/2026.findings-acl.20/</a:t>
            </a:r>
          </a:p>
          <a:p xmlns:a="http://schemas.openxmlformats.org/drawingml/2006/main">
            <a:r>
              <a:t>Research question: does a lexical input filter lower observable redirection while preserving benign utility? The paper evaluates full inference pipelines and compares harmful and topic-aligned benign prompts. This project adapts that idea to a small local model. The cover is a retained AI-generated illustration from Assignment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screenshot is experimental evidence from the working prototype. Model card: https://huggingface.co/Qwen/Qwen2.5-0.5B-Instruct</a:t>
            </a:r>
          </a:p>
          <a:p xmlns:a="http://schemas.openxmlformats.org/drawingml/2006/main">
            <a:r>
              <a:t>The selected model is smaller than the paper's Qwen2.5-7B target. It is not trained from scratch. Open the demo at http://127.0.0.1:8765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implemented in testbed/server.py, engine.py, safety.py and garak_adapter.py. Garak uses the official function.Single adapter, without edits to the vendor repository. Service binds to loopback only. The server has no external action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NVIDIA garak source pinned to commit 346497afcd86ff5ba137cfbcaaeba4e9c9f6c970, version 0.17.1rc1. Model full revision: 7ae557604adf67be50417f59c2c2f167def9a775. Seed selects garak prompts; greedy decoding avoids random-state shifts when the filter skips inference. Garak probe-specific generation suggestions do not alter the server settings. Source: evidence/paired/manifest.json.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Data: evidence/garak/*.report.jsonl and evidence/summary.json. The two DAN detectors score one shared answer, not two separate tests. A DAN acknowledgement does not prove harmful generation. Normalised search removes non-letters and flags candidates, not semantically verified extra attacks. The remaining protected candidate formats quoted attack text as a numbered list. The descriptive Wilson 95% interval for 0/32 extends to 10.7%; garak's all-zero bootstrap interval must not be interpreted as zero risk.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evidence/paired/responses.jsonl and summary.json. There are 24 attacks and 24 benign prompts per mode. Filter confusion matrix TP=8, FP=8, FN=16, TN=16. Its classification accuracy is 50%, equal to an always-allow classifier on this balanced set. All eight false positives arise in twelve educational security prompts. Ordinary task matching normalises punctuation/case but requires a strict full answer. Response-time means pool these 48 requests, excluding warm-up. The filter speeds refusals, not the model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project adapts the selected paper's pipeline framing; it does not reproduce its harmful-content benchmark or invent a new moderation algorithm. Four lexical rules existed before the new cases and remained unchanged after observation. Code checks: evidence/code-test-output.txt. HTTP checks: evidence/api-test-output.txt. Reproducibility: README.md and Run-Experiments.ps1. Student independent labels remain blank in student-review.csv.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 references in the report. Sources: https://aclanthology.org/2026.findings-acl.20/ ; https://github.com/NVIDIA/garak ; https://huggingface.co/Qwen/Qwen2.5-0.5B-Instruct ; https://arxiv.org/abs/2211.09527 . Limits: one 0.5B model, greedy single-turn tests, convenience samples, truncated outputs, lexical harm proxy, no tools or harmful completions, no independent human judgments. AI assistance is substantial and must be disclosed. A retained AI-generated cover illustration is used. Student must personally review, rerun and explain code and results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91a8f13f0b43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eb893f6f74c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cae82d48f4e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899cc599843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1e50a132d40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41228a85c4f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35643E-6A08-4008-97E6-ECEF87F61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701711-2C43-44CD-9073-90B3CEF539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8FE908-FECA-4B12-B29D-FD89556DAD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A68DA3-8062-412A-B84E-4AB7ABC69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3C90197-752D-4CEF-AA6E-37B0D0627C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12BAEC-E5A3-441C-AF91-3EAC62CF60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5ADA77-5846-48F6-B07D-B5FEE42F0C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70DE89-4F29-4336-B6AB-E7493BE567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7F362E-0659-4C29-AAE9-3B3194C6CF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A92871-D887-47A0-A10E-24B0133424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d31f7a63424dcf" /><Relationship Type="http://schemas.openxmlformats.org/officeDocument/2006/relationships/slideLayout" Target="/ppt/slideLayouts/slideLayout1.xml" Id="R53ebc26b76584485" /><Relationship Type="http://schemas.openxmlformats.org/officeDocument/2006/relationships/slideLayout" Target="/ppt/slideLayouts/slideLayout2.xml" Id="Re02362f89f4442e8" /><Relationship Type="http://schemas.openxmlformats.org/officeDocument/2006/relationships/slideLayout" Target="/ppt/slideLayouts/slideLayout3.xml" Id="Rbb05c05a984c4a81" /><Relationship Type="http://schemas.openxmlformats.org/officeDocument/2006/relationships/slideLayout" Target="/ppt/slideLayouts/slideLayout4.xml" Id="R03e061466cd1453d" /><Relationship Type="http://schemas.openxmlformats.org/officeDocument/2006/relationships/slideLayout" Target="/ppt/slideLayouts/slideLayout5.xml" Id="R91ecf051a5b34ee1" /><Relationship Type="http://schemas.openxmlformats.org/officeDocument/2006/relationships/slideLayout" Target="/ppt/slideLayouts/slideLayout6.xml" Id="Rfc2a6f9b65504b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ebc26b76584485"/>
    <p:sldLayoutId xmlns:r="http://schemas.openxmlformats.org/officeDocument/2006/relationships" id="2147483650" r:id="Re02362f89f4442e8"/>
    <p:sldLayoutId xmlns:r="http://schemas.openxmlformats.org/officeDocument/2006/relationships" id="2147483651" r:id="Rbb05c05a984c4a81"/>
    <p:sldLayoutId xmlns:r="http://schemas.openxmlformats.org/officeDocument/2006/relationships" id="2147483652" r:id="R03e061466cd1453d"/>
    <p:sldLayoutId xmlns:r="http://schemas.openxmlformats.org/officeDocument/2006/relationships" id="2147483653" r:id="R91ecf051a5b34ee1"/>
    <p:sldLayoutId xmlns:r="http://schemas.openxmlformats.org/officeDocument/2006/relationships" id="2147483654" r:id="Rfc2a6f9b65504b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ad77a6bca45dd" /><Relationship Type="http://schemas.openxmlformats.org/officeDocument/2006/relationships/image" Target="/ppt/media/image.png" Id="Rcf62c51b060a488d" /><Relationship Type="http://schemas.openxmlformats.org/officeDocument/2006/relationships/notesSlide" Target="/ppt/notesSlides/notesSlide1.xml" Id="R2de1a1079e754c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fad927fbb94984" /><Relationship Type="http://schemas.openxmlformats.org/officeDocument/2006/relationships/image" Target="/ppt/media/image.jpeg" Id="R96e64d3e2bec4ccb" /><Relationship Type="http://schemas.openxmlformats.org/officeDocument/2006/relationships/notesSlide" Target="/ppt/notesSlides/notesSlide2.xml" Id="R27064ba952c546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2649e5769945fe" /><Relationship Type="http://schemas.openxmlformats.org/officeDocument/2006/relationships/notesSlide" Target="/ppt/notesSlides/notesSlide3.xml" Id="Ra9fbea6ff98e43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e8b57175b4231" /><Relationship Type="http://schemas.openxmlformats.org/officeDocument/2006/relationships/notesSlide" Target="/ppt/notesSlides/notesSlide4.xml" Id="R6ab40ba5ae7a40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772721c9b4afc" /><Relationship Type="http://schemas.openxmlformats.org/officeDocument/2006/relationships/chart" Target="/ppt/slides/charts/chart1.xml" Id="Redea861ab0934c73" /><Relationship Type="http://schemas.openxmlformats.org/officeDocument/2006/relationships/notesSlide" Target="/ppt/notesSlides/notesSlide5.xml" Id="Rcb470d82cf774a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8fd0d306134899" /><Relationship Type="http://schemas.openxmlformats.org/officeDocument/2006/relationships/notesSlide" Target="/ppt/notesSlides/notesSlide6.xml" Id="Rffa19d620d8345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0ee8b05a2c4cc2" /><Relationship Type="http://schemas.openxmlformats.org/officeDocument/2006/relationships/notesSlide" Target="/ppt/notesSlides/notesSlide7.xml" Id="Rec3abadd0a7f4a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7a3f5a824e47a5" /><Relationship Type="http://schemas.openxmlformats.org/officeDocument/2006/relationships/notesSlide" Target="/ppt/notesSlides/notesSlide8.xml" Id="Rcd84fe084903418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Exact marker rate</c:v>
          </c:tx>
          <c:spPr>
            <a:solidFill xmlns:a="http://schemas.openxmlformats.org/drawingml/2006/main">
              <a:srgbClr val="167C9D"/>
            </a:solidFill>
          </c:spPr>
          <c:invertIfNegative val="0"/>
          <c:cat>
            <c:strLit>
              <c:ptCount val="2"/>
              <c:pt idx="0">
                <c:v>Baseline</c:v>
              </c:pt>
              <c:pt idx="1">
                <c:v>Input filter</c:v>
              </c:pt>
            </c:strLit>
          </c:cat>
          <c:val>
            <c:numLit>
              <c:formatCode>0%</c:formatCode>
              <c:ptCount val="2"/>
              <c:pt idx="0">
                <c:v>0.375</c:v>
              </c:pt>
              <c:pt idx="1">
                <c:v>0</c:v>
              </c:pt>
            </c:numLit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4324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E1E8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DA891-3224-4272-B01D-DEE9A3002F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2c51b060a488d"/>
          <a:stretch xmlns:a="http://schemas.openxmlformats.org/drawingml/2006/main"/>
        </p:blipFill>
        <p:spPr>
          <a:xfrm xmlns:a="http://schemas.openxmlformats.org/drawingml/2006/main">
            <a:off x="6238875" y="1753793"/>
            <a:ext cx="5953125" cy="3350413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4C3A1-0CF2-4206-A8A6-2FFD325A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5429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Filters for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8AB1B-6894-4F11-87E1-6C51DB4C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C4E5E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4E5EE"/>
                </a:solidFill>
                <a:latin typeface="Arial"/>
                <a:ea typeface="Arial"/>
                <a:cs typeface="Arial"/>
              </a:rPr>
              <a:t>How much protection does an input filter add, and which legitimate requests does it reject?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35383-57DA-45CB-B9CD-312DF073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386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4CC2D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CC2D9"/>
                </a:solidFill>
                <a:latin typeface="Arial"/>
                <a:ea typeface="Arial"/>
                <a:cs typeface="Arial"/>
              </a:rPr>
              <a:t>Research basis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30E04-8EE8-4F16-B810-683C852C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5191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0EDF3"/>
                </a:solidFill>
                <a:latin typeface="Arial"/>
                <a:ea typeface="Arial"/>
                <a:cs typeface="Arial"/>
              </a:rPr>
              <a:t>Xin et al.</a:t>
            </a:r>
          </a:p>
          <a:p xmlns:a="http://schemas.openxmlformats.org/drawingml/2006/main">
            <a: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0EDF3"/>
                </a:solidFill>
                <a:latin typeface="Arial"/>
                <a:ea typeface="Arial"/>
                <a:cs typeface="Arial"/>
              </a:rPr>
              <a:t>Jailbreaking Attacks vs. Content Safety Filters</a:t>
            </a:r>
          </a:p>
          <a:p xmlns:a="http://schemas.openxmlformats.org/drawingml/2006/main">
            <a:pPr>
              <a:defRPr sz="1650" b="0">
                <a:solidFill>
                  <a:srgbClr val="E0EDF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0EDF3"/>
                </a:solidFill>
                <a:latin typeface="Arial"/>
                <a:ea typeface="Arial"/>
                <a:cs typeface="Arial"/>
              </a:rPr>
              <a:t>Findings of ACL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C7586-EE5A-435D-AE90-DAE0DB8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1985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1B7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B7C9"/>
                </a:solidFill>
                <a:latin typeface="Arial"/>
                <a:ea typeface="Arial"/>
                <a:cs typeface="Arial"/>
              </a:rPr>
              <a:t>AI Security and Risk Analysis  AISRA1301</a:t>
            </a:r>
          </a:p>
        </p:txBody>
      </p:sp>
    </p:spTree>
    <p:extLst>
      <p:ext uri="{BB962C8B-B14F-4D97-AF65-F5344CB8AC3E}">
        <p14:creationId xmlns:p14="http://schemas.microsoft.com/office/powerpoint/2010/main" val="1144283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BB604-6D1A-4A17-B7BD-FB85C202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Proposed AI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D50F1-9558-4E41-B12E-69AD222C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457E9-BFCF-46BA-B6B4-3FC954F9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20F2E-3D27-479C-A619-F353BF7C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LLM Safety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73AF8C-FD70-4148-8B37-D6077FBA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647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A working local web application with a real language model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Two modes share the same model: baseline and input-filtered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Observable answer, block decision, response time and tokens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Every completed request enters a local audit log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84B5A-0873-4433-A549-6152B20B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Qwen2.5-0.5B-Instruct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D3C29-D0EC-471D-BDE8-8185F9D3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Local inference on GTX 1660 with 6 GB VRAM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FBBCB-90B3-45EB-B1AF-991EEA9E93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64d3e2bec4ccb"/>
          <a:stretch xmlns:a="http://schemas.openxmlformats.org/drawingml/2006/main"/>
        </p:blipFill>
        <p:spPr>
          <a:xfrm xmlns:a="http://schemas.openxmlformats.org/drawingml/2006/main">
            <a:off x="7905750" y="1841719"/>
            <a:ext cx="3219450" cy="381273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044DB-5D89-4BDA-80D8-87ED9F7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077217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5D883-DE31-414B-9C8B-E9B47491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25796-91B0-4E2D-B770-FB6A61D1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866CF-0D02-4A22-A3F8-8A05CCEB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99927-A0D9-4320-B438-6B46E213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9525">
            <a:solidFill>
              <a:srgbClr val="102B3E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or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garak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B57C5-FCD0-4FDB-913A-1DCBDE66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76500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solidFill>
              <a:srgbClr val="4CC2D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6D1A7-B055-413B-93E3-E14C6C7C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00275"/>
            <a:ext cx="209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7C9D"/>
          </a:solidFill>
          <a:ln xmlns:a="http://schemas.openxmlformats.org/drawingml/2006/main" w="9525">
            <a:solidFill>
              <a:srgbClr val="167C9D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 endpoint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/evaluate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7AFF9-CAF4-4F1F-93B2-6F877774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476500"/>
            <a:ext cx="647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solidFill>
              <a:srgbClr val="4CC2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363ED-7FE0-4A73-A6C3-CAD8765B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00275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866F"/>
          </a:solidFill>
          <a:ln xmlns:a="http://schemas.openxmlformats.org/drawingml/2006/main" w="9525">
            <a:solidFill>
              <a:srgbClr val="24866F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05902-4972-4AB8-B745-23278E9A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76500"/>
            <a:ext cx="5524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solidFill>
              <a:srgbClr val="4CC2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EC67D-146B-47E0-AD5C-EDF797F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00275"/>
            <a:ext cx="1638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B3E"/>
          </a:solidFill>
          <a:ln xmlns:a="http://schemas.openxmlformats.org/drawingml/2006/main" w="9525">
            <a:solidFill>
              <a:srgbClr val="102B3E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Pinned Qwen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2C805-3504-47F7-A4B1-F283829F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One shared application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4EB27-D3C7-48B9-B031-ADDDAA73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3248"/>
                </a:solidFill>
                <a:latin typeface="Arial"/>
                <a:ea typeface="Arial"/>
                <a:cs typeface="Arial"/>
              </a:rPr>
              <a:t>Blocked requests receive a standard refusal. Allowed requests reach identical model weights, system instructions and decoding.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05948-B22F-4E81-9D58-C71E42B1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Audit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5F3D3-BB35-4B9E-9B46-5F11A0BB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38775"/>
            <a:ext cx="1019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Input hash, configuration, matched rules, response, token count and elapsed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D60E0-4874-4472-B3C4-95A5E0FA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6286570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587FD-8F51-441F-9FDF-FA2C63F9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Research tool and experimental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2C6EF-7801-4672-846C-D1BD4A44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13F4B-9FEA-423A-A164-46DEDDA9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C8B28-9303-43AE-A8DF-0452BC21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NVIDIA garak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6E124-C063-4D7A-AB14-F69EEAA3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19325"/>
            <a:ext cx="485775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32 sampled PromptInject prompts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One DAN 11.0 prompt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Both modes receive identical prompts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Official exact-string and refusal detectors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03FAA-29A7-4FB3-9241-B77A3ABB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144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96 custom responses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89A65-DF11-4F22-A80F-3824E050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19325"/>
            <a:ext cx="485775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24 attack variants and 24 benign inputs, each tested twice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Rules frozen before observing these outputs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Alternating run order and excluded warm-up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950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43248"/>
                </a:solidFill>
                <a:latin typeface="Arial"/>
                <a:ea typeface="Arial"/>
                <a:cs typeface="Arial"/>
              </a:rPr>
              <a:t>Input hashes and paired output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4BF6C-327B-46F0-A543-6C9D24F6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Fixed 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64F9F-AF29-4870-8382-8743383E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Model revision 7ae5576    Greedy decoding    96 output tokens    Seed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B8778-AE5B-4294-9E8C-4D4B0347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917397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D79AC8-471D-4F0A-B64A-28030894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Garak results before and after filtering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78A3A-50E7-4066-AFD6-29A1AF52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02CCE-5FAF-4229-B0E0-E98E7956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8B5810C2-ECE5-4EEC-986C-13642612FC3B}"/>
              </a:ext>
            </a:extLst>
          </p:cNvPr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6667500" cy="3676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ea861ab0934c7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3D5D1-D214-4FCC-8DC8-F10AB9FE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192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12/32 to 0/32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635F6-CB34-41DC-9A13-34498F15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PromptInject exact hits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2C596-481D-498D-BF0F-71FEBE98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CA5757"/>
                </a:solidFill>
                <a:latin typeface="Arial"/>
                <a:ea typeface="Arial"/>
                <a:cs typeface="Arial"/>
              </a:rPr>
              <a:t>1/1 to 0/1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AFF7D-29A5-4855-AB95-96A40365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DAN acknowledgement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9122B-43CC-495F-B191-E58FFD96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8642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Normalised marker candidates: 15/32 to 1/32. Contextual review remains necessary.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90EC7-A7B1-4BA5-992F-5F3D43D5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503058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94C8E-5ED1-4C62-9C07-57F0B64B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Filter generalisation and usability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8B7F85-5736-40D4-8307-D01840D5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48C0C-BFBE-4306-B077-52163BAE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6F6BC-B0D9-4F4C-BF77-24D7AC2AE0CC}"/>
              </a:ext>
            </a:extLst>
          </p:cNvPr>
          <p:cNvGraphicFramePr/>
          <p:nvPr/>
        </p:nvGraphicFramePr>
        <p:xfrm>
          <a:off xmlns:a="http://schemas.openxmlformats.org/drawingml/2006/main" x="666750" y="1562100"/>
          <a:ext xmlns:a="http://schemas.openxmlformats.org/drawingml/2006/main" cx="10858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714625"/>
                <a:gridCol w="2714625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 evaluation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T w="9525">
                      <a:solidFill>
                        <a:srgbClr val="D4E1E8"/>
                      </a:solidFill>
                      <a:prstDash val="solid"/>
                    </a:lnT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102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T w="9525">
                      <a:solidFill>
                        <a:srgbClr val="D4E1E8"/>
                      </a:solidFill>
                      <a:prstDash val="solid"/>
                    </a:lnT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102B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 filter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T w="9525">
                      <a:solidFill>
                        <a:srgbClr val="D4E1E8"/>
                      </a:solidFill>
                      <a:prstDash val="solid"/>
                    </a:lnT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102B3E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Exact attack markers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0/24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0/24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Attack inputs blocked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0/24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8/24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Benign inputs blocked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0/24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8/24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Ordinary strict answer matches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9/12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9/12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1F6F8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Mean response time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4E1E8"/>
                      </a:solidFill>
                      <a:prstDash val="solid"/>
                    </a:lnL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1.408 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3248"/>
                          </a:solidFill>
                          <a:latin typeface="Arial"/>
                          <a:ea typeface="Arial"/>
                          <a:cs typeface="Arial"/>
                        </a:rPr>
                        <a:t>0.683 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4E1E8"/>
                      </a:solidFill>
                      <a:prstDash val="solid"/>
                    </a:lnR>
                    <a:lnB w="9525">
                      <a:solidFill>
                        <a:srgbClr val="D4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ABC46E-5F99-4D35-A9E6-53D57679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A57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A5757"/>
                </a:solidFill>
                <a:latin typeface="Arial"/>
                <a:ea typeface="Arial"/>
                <a:cs typeface="Arial"/>
              </a:rPr>
              <a:t>Precision 50%    Recall 33.3%    F1 0.40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D858B-74CD-40AD-897D-A7E743CA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1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3248"/>
                </a:solidFill>
                <a:latin typeface="Arial"/>
                <a:ea typeface="Arial"/>
                <a:cs typeface="Arial"/>
              </a:rPr>
              <a:t>Faster refusals also discard useful requests. This set provides no additional ASR reduction because baseline already has zero exact marker hits.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BA66A-9A07-4613-A7BD-15BEEA2C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20633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FA4CB-E572-4978-B4CA-040436C6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Research extension and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E0C36-E0BF-4BB7-9CE6-E3631CE3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71119-1774-4B3B-AB19-048D45B9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385FB-671A-453A-81BC-7CDE6605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Beyond a scanner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FF2C2-DB5E-422B-98A6-99607D27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647700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Connect garak to the actual demonstration application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Evaluate paraphrases, encoding, obfuscation and multilingual inputs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Measure benign mistakes alongside attack signatures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20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43248"/>
                </a:solidFill>
                <a:latin typeface="Arial"/>
                <a:ea typeface="Arial"/>
                <a:cs typeface="Arial"/>
              </a:rPr>
              <a:t>Audit exact matching against normalised marker candidates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4EF9C-19AB-4246-A172-CC615508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906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86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866F"/>
                </a:solidFill>
                <a:latin typeface="Arial"/>
                <a:ea typeface="Arial"/>
                <a:cs typeface="Arial"/>
              </a:rPr>
              <a:t>Evidence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9EA29-3316-4B88-84C0-920EEAC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71725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33 matched</a:t>
            </a:r>
          </a:p>
          <a:p xmlns:a="http://schemas.openxmlformats.org/drawingml/2006/main">
            <a: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garak pairs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D327B-1BB5-479D-A3DE-B3419E66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38550"/>
            <a:ext cx="323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48 matched</a:t>
            </a:r>
          </a:p>
          <a:p xmlns:a="http://schemas.openxmlformats.org/drawingml/2006/main">
            <a: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custom pairs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70F2B-9F35-4A7A-8008-F1E1059A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96252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7 code checks</a:t>
            </a:r>
          </a:p>
          <a:p xmlns:a="http://schemas.openxmlformats.org/drawingml/2006/main">
            <a:pPr>
              <a:defRPr sz="19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4 API boundary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904C0-B035-4D48-B386-2847C659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Raw responses, fixed cases, configs, hashes, timing and review worksheet are included.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08BF4-0250-47CB-BE05-4CCADE30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739223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173EB-8ACA-4369-AAC6-BA56C44D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Conclusions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45218-0197-46D7-9AB7-97CE3D0E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953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07A8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4C1474-84A0-4807-A6A1-CE003039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2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29255-2413-4235-AD0D-3A787C29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B3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B3E"/>
                </a:solidFill>
                <a:latin typeface="Arial"/>
                <a:ea typeface="Arial"/>
                <a:cs typeface="Arial"/>
              </a:rPr>
              <a:t>The filter suppresses known signatures but has substantial blind spots and false positives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ECB59-E206-4917-A178-A78C8018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028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248"/>
                </a:solidFill>
                <a:latin typeface="Arial"/>
                <a:ea typeface="Arial"/>
                <a:cs typeface="Arial"/>
              </a:rPr>
              <a:t>Expand to independent data, human grading, larger models and multi-turn tests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87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43248"/>
                </a:solidFill>
                <a:latin typeface="Arial"/>
                <a:ea typeface="Arial"/>
                <a:cs typeface="Arial"/>
              </a:rPr>
              <a:t>Evaluate output moderation and task completion as separate 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8C986-497E-4AAB-BE8C-E0394F4C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719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88571-DB68-4FF7-8D05-6E681708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6203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Xin et al., ACL Findings 2026, doi:10.18653/v1/2026.findings-acl.20</a:t>
            </a:r>
          </a:p>
          <a:p xmlns:a="http://schemas.openxmlformats.org/drawingml/2006/main">
            <a: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NVIDIA garak: github.com/NVIDIA/garak</a:t>
            </a:r>
          </a:p>
          <a:p xmlns:a="http://schemas.openxmlformats.org/drawingml/2006/main">
            <a: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Qwen model: huggingface.co/Qwen/Qwen2.5-0.5B-Instruct</a:t>
            </a:r>
          </a:p>
          <a:p xmlns:a="http://schemas.openxmlformats.org/drawingml/2006/main">
            <a:pPr>
              <a:defRPr sz="1275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Perez and Ribeiro, Ignore Previous Prompt, arXiv:2211.09527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C3D33-CB73-4431-9E0E-40FB22DF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67C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C9D"/>
                </a:solidFill>
                <a:latin typeface="Arial"/>
                <a:ea typeface="Arial"/>
                <a:cs typeface="Arial"/>
              </a:rPr>
              <a:t>AI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3C7D1-FFE0-4C05-87AE-8A6930FD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432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3248"/>
                </a:solidFill>
                <a:latin typeface="Arial"/>
                <a:ea typeface="Arial"/>
                <a:cs typeface="Arial"/>
              </a:rPr>
              <a:t>Codex produced code, cases, automated runs, analysis and material drafts. Student review and final interpretation remain to be documented.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0DBA2-52DC-49EC-ADB8-FC001B87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A8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A89"/>
                </a:solidFill>
                <a:latin typeface="Arial"/>
                <a:ea typeface="Arial"/>
                <a:cs typeface="Arial"/>
              </a:rPr>
              <a:t>AISRA1301  Midterm Project  22 October 2026</a:t>
            </a:r>
          </a:p>
        </p:txBody>
      </p:sp>
    </p:spTree>
    <p:extLst>
      <p:ext uri="{BB962C8B-B14F-4D97-AF65-F5344CB8AC3E}">
        <p14:creationId xmlns:p14="http://schemas.microsoft.com/office/powerpoint/2010/main" val="8284113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2026-10-22T09:33:48.1190000Z</dcterms:created>
  <dcterms:modified xsi:type="dcterms:W3CDTF">2026-10-22T09:33:48.1190000Z</dcterms:modified>
</coreProperties>
</file>