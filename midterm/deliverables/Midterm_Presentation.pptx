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99ef08450af4a23" /><Relationship Type="http://schemas.openxmlformats.org/officeDocument/2006/relationships/extended-properties" Target="/docProps/app.xml" Id="R80e3c77c57544625" /><Relationship Type="http://schemas.openxmlformats.org/officeDocument/2006/relationships/officeDocument" Target="/ppt/presentation.xml" Id="R6852e8bec8364a9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6dce95423f5454f"/>
  </p:sldMasterIdLst>
  <p:notesMasterIdLst>
    <p:notesMasterId xmlns:r="http://schemas.openxmlformats.org/officeDocument/2006/relationships" r:id="R2e8e9db021ea4052"/>
  </p:notesMasterIdLst>
  <p:sldIdLst>
    <p:sldId xmlns:r="http://schemas.openxmlformats.org/officeDocument/2006/relationships" id="256" r:id="R4a0a8819afd641c5"/>
    <p:sldId xmlns:r="http://schemas.openxmlformats.org/officeDocument/2006/relationships" id="257" r:id="Rf5d4501735ed4a2a"/>
    <p:sldId xmlns:r="http://schemas.openxmlformats.org/officeDocument/2006/relationships" id="258" r:id="R300e1a8e5ff14e99"/>
    <p:sldId xmlns:r="http://schemas.openxmlformats.org/officeDocument/2006/relationships" id="259" r:id="Reaea3e4698154965"/>
    <p:sldId xmlns:r="http://schemas.openxmlformats.org/officeDocument/2006/relationships" id="260" r:id="Rcfd2ead732f94c71"/>
    <p:sldId xmlns:r="http://schemas.openxmlformats.org/officeDocument/2006/relationships" id="261" r:id="R7beb5a7168ae459b"/>
    <p:sldId xmlns:r="http://schemas.openxmlformats.org/officeDocument/2006/relationships" id="262" r:id="R104688af5ee141eb"/>
    <p:sldId xmlns:r="http://schemas.openxmlformats.org/officeDocument/2006/relationships" id="263" r:id="R7d25b33c1ac740b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c9181ff686c4052" /><Relationship Type="http://schemas.openxmlformats.org/officeDocument/2006/relationships/slideMaster" Target="/ppt/slideMasters/slideMaster1.xml" Id="R66dce95423f5454f" /><Relationship Type="http://schemas.openxmlformats.org/officeDocument/2006/relationships/notesMaster" Target="/ppt/notesMasters/notesMaster1.xml" Id="R2e8e9db021ea4052" /><Relationship Type="http://schemas.openxmlformats.org/officeDocument/2006/relationships/presProps" Target="/ppt/presProps.xml" Id="R370794a500144f0b" /><Relationship Type="http://schemas.openxmlformats.org/officeDocument/2006/relationships/tableStyles" Target="/ppt/tableStyles.xml" Id="R6bbdfc3446544ee6" /><Relationship Type="http://schemas.openxmlformats.org/officeDocument/2006/relationships/slide" Target="/ppt/slides/slide1.xml" Id="R4a0a8819afd641c5" /><Relationship Type="http://schemas.openxmlformats.org/officeDocument/2006/relationships/slide" Target="/ppt/slides/slide2.xml" Id="Rf5d4501735ed4a2a" /><Relationship Type="http://schemas.openxmlformats.org/officeDocument/2006/relationships/slide" Target="/ppt/slides/slide3.xml" Id="R300e1a8e5ff14e99" /><Relationship Type="http://schemas.openxmlformats.org/officeDocument/2006/relationships/slide" Target="/ppt/slides/slide4.xml" Id="Reaea3e4698154965" /><Relationship Type="http://schemas.openxmlformats.org/officeDocument/2006/relationships/slide" Target="/ppt/slides/slide5.xml" Id="Rcfd2ead732f94c71" /><Relationship Type="http://schemas.openxmlformats.org/officeDocument/2006/relationships/slide" Target="/ppt/slides/slide6.xml" Id="R7beb5a7168ae459b" /><Relationship Type="http://schemas.openxmlformats.org/officeDocument/2006/relationships/slide" Target="/ppt/slides/slide7.xml" Id="R104688af5ee141eb" /><Relationship Type="http://schemas.openxmlformats.org/officeDocument/2006/relationships/slide" Target="/ppt/slides/slide8.xml" Id="R7d25b33c1ac740b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6c078b7ad3245f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8ab92eeb42f463c" /><Relationship Type="http://schemas.openxmlformats.org/officeDocument/2006/relationships/notesMaster" Target="/ppt/notesMasters/notesMaster1.xml" Id="Re9ce8af8460c41e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db31caadd354f34" /><Relationship Type="http://schemas.openxmlformats.org/officeDocument/2006/relationships/notesMaster" Target="/ppt/notesMasters/notesMaster1.xml" Id="R344e8527b23143f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358297a29d64851" /><Relationship Type="http://schemas.openxmlformats.org/officeDocument/2006/relationships/notesMaster" Target="/ppt/notesMasters/notesMaster1.xml" Id="Ra0c323b99b03471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0c8f11031804552" /><Relationship Type="http://schemas.openxmlformats.org/officeDocument/2006/relationships/notesMaster" Target="/ppt/notesMasters/notesMaster1.xml" Id="R5ef49d4a0de7492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008849f62de418c" /><Relationship Type="http://schemas.openxmlformats.org/officeDocument/2006/relationships/notesMaster" Target="/ppt/notesMasters/notesMaster1.xml" Id="Rc17d90a11f8f403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ff7e693f1ea4a9e" /><Relationship Type="http://schemas.openxmlformats.org/officeDocument/2006/relationships/notesMaster" Target="/ppt/notesMasters/notesMaster1.xml" Id="R4b357394a5744dd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9ac9a64e5e5458e" /><Relationship Type="http://schemas.openxmlformats.org/officeDocument/2006/relationships/notesMaster" Target="/ppt/notesMasters/notesMaster1.xml" Id="R417bb711c4be4eb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d64c6d63db644f0" /><Relationship Type="http://schemas.openxmlformats.org/officeDocument/2006/relationships/notesMaster" Target="/ppt/notesMasters/notesMaster1.xml" Id="R71f360ef078b478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Selected peer-reviewed paper: https://aclanthology.org/2026.findings-acl.20/</a:t>
            </a:r>
          </a:p>
          <a:p xmlns:a="http://schemas.openxmlformats.org/drawingml/2006/main">
            <a:r>
              <a:t>Research question: does a lexical input filter lower observable redirection while preserving benign utility? The paper evaluates full inference pipelines and compares harmful and topic-aligned benign prompts. This project adapts that idea to a small local model. The cover is a retained AI-generated illustration from Assignment 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browser screenshot is experimental evidence from the working prototype. Model card: https://huggingface.co/Qwen/Qwen2.5-0.5B-Instruct</a:t>
            </a:r>
          </a:p>
          <a:p xmlns:a="http://schemas.openxmlformats.org/drawingml/2006/main">
            <a:r>
              <a:t>The selected model is smaller than the paper's Qwen2.5-7B target. It is not trained from scratch. Open the demo at http://127.0.0.1:8765 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Architecture is implemented in testbed/server.py, engine.py, safety.py and garak_adapter.py. Garak uses the official function.Single adapter, without edits to the vendor repository. Service binds to loopback only. The server has no external action tools.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NVIDIA garak source pinned to commit 346497afcd86ff5ba137cfbcaaeba4e9c9f6c970, version 0.17.1rc1. Model full revision: 7ae557604adf67be50417f59c2c2f167def9a775. Seed selects garak prompts; greedy decoding avoids random-state shifts when the filter skips inference. Garak probe-specific generation suggestions do not alter the server settings. Source: evidence/paired/manifest.json.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Data: evidence/garak/*.report.jsonl and evidence/summary.json. The two DAN detectors score one shared answer, not two separate tests. A DAN acknowledgement does not prove harmful generation. Normalised search removes non-letters and flags candidates, not semantically verified extra attacks. The remaining protected candidate formats quoted attack text as a numbered list. The descriptive Wilson 95% interval for 0/32 extends to 10.7%; garak's all-zero bootstrap interval must not be interpreted as zero risk.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evidence/paired/responses.jsonl and summary.json. There are 24 attacks and 24 benign prompts per mode. Filter confusion matrix TP=8, FP=8, FN=16, TN=16. Its classification accuracy is 50%, equal to an always-allow classifier on this balanced set. All eight false positives arise in twelve educational security prompts. Ordinary task matching normalises punctuation/case but requires a strict full answer. Response-time means pool these 48 requests, excluding warm-up. The filter speeds refusals, not the model itself.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project adapts the selected paper's pipeline framing; it does not reproduce its harmful-content benchmark or invent a new moderation algorithm. Four lexical rules existed before the new cases and remained unchanged after observation. Code checks: evidence/code-test-output.txt. HTTP checks: evidence/api-test-output.txt. Reproducibility: README.md and Run-Experiments.ps1. Student independent labels remain blank in student-review.csv.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Complete references in the report. Sources: https://aclanthology.org/2026.findings-acl.20/ ; https://github.com/NVIDIA/garak ; https://huggingface.co/Qwen/Qwen2.5-0.5B-Instruct ; https://arxiv.org/abs/2211.09527 . Limits: one 0.5B model, greedy single-turn tests, convenience samples, truncated outputs, lexical harm proxy, no tools or harmful completions, no independent human judgments. AI assistance is substantial and must be disclosed. A retained AI-generated cover illustration is used. Student must personally review, rerun and explain code and results before submission.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b91a8f13f0b432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bfeb893f6f74cb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f1cae82d48f4e4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e9899cc5998433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ff1e50a132d40f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d241228a85c4fd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835643E-6A08-4008-97E6-ECEF87F61C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9B701711-2C43-44CD-9073-90B3CEF5397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2E8FE908-FECA-4B12-B29D-FD89556DADD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3A68DA3-8062-412A-B84E-4AB7ABC694D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83C90197-752D-4CEF-AA6E-37B0D0627CB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B12BAEC-E5A3-441C-AF91-3EAC62CF607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35ADA77-5846-48F6-B07D-B5FEE42F0C7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6B70DE89-4F29-4336-B6AB-E7493BE567A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67F362E-0659-4C29-AAE9-3B3194C6CFD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DA92871-D887-47A0-A10E-24B01334245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2d31f7a63424dcf" /><Relationship Type="http://schemas.openxmlformats.org/officeDocument/2006/relationships/slideLayout" Target="/ppt/slideLayouts/slideLayout1.xml" Id="R53ebc26b76584485" /><Relationship Type="http://schemas.openxmlformats.org/officeDocument/2006/relationships/slideLayout" Target="/ppt/slideLayouts/slideLayout2.xml" Id="Re02362f89f4442e8" /><Relationship Type="http://schemas.openxmlformats.org/officeDocument/2006/relationships/slideLayout" Target="/ppt/slideLayouts/slideLayout3.xml" Id="Rbb05c05a984c4a81" /><Relationship Type="http://schemas.openxmlformats.org/officeDocument/2006/relationships/slideLayout" Target="/ppt/slideLayouts/slideLayout4.xml" Id="R03e061466cd1453d" /><Relationship Type="http://schemas.openxmlformats.org/officeDocument/2006/relationships/slideLayout" Target="/ppt/slideLayouts/slideLayout5.xml" Id="R91ecf051a5b34ee1" /><Relationship Type="http://schemas.openxmlformats.org/officeDocument/2006/relationships/slideLayout" Target="/ppt/slideLayouts/slideLayout6.xml" Id="Rfc2a6f9b65504b1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3ebc26b76584485"/>
    <p:sldLayoutId xmlns:r="http://schemas.openxmlformats.org/officeDocument/2006/relationships" id="2147483650" r:id="Re02362f89f4442e8"/>
    <p:sldLayoutId xmlns:r="http://schemas.openxmlformats.org/officeDocument/2006/relationships" id="2147483651" r:id="Rbb05c05a984c4a81"/>
    <p:sldLayoutId xmlns:r="http://schemas.openxmlformats.org/officeDocument/2006/relationships" id="2147483652" r:id="R03e061466cd1453d"/>
    <p:sldLayoutId xmlns:r="http://schemas.openxmlformats.org/officeDocument/2006/relationships" id="2147483653" r:id="R91ecf051a5b34ee1"/>
    <p:sldLayoutId xmlns:r="http://schemas.openxmlformats.org/officeDocument/2006/relationships" id="2147483654" r:id="Rfc2a6f9b65504b1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43ad77a6bca45dd" /><Relationship Type="http://schemas.openxmlformats.org/officeDocument/2006/relationships/image" Target="/ppt/media/image.png" Id="Rcf62c51b060a488d" /><Relationship Type="http://schemas.openxmlformats.org/officeDocument/2006/relationships/notesSlide" Target="/ppt/notesSlides/notesSlide1.xml" Id="R2de1a1079e754ca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0fad927fbb94984" /><Relationship Type="http://schemas.openxmlformats.org/officeDocument/2006/relationships/image" Target="/ppt/media/image.jpeg" Id="R96e64d3e2bec4ccb" /><Relationship Type="http://schemas.openxmlformats.org/officeDocument/2006/relationships/notesSlide" Target="/ppt/notesSlides/notesSlide2.xml" Id="R27064ba952c5465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b2649e5769945fe" /><Relationship Type="http://schemas.openxmlformats.org/officeDocument/2006/relationships/notesSlide" Target="/ppt/notesSlides/notesSlide3.xml" Id="Ra9fbea6ff98e43d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09e8b57175b4231" /><Relationship Type="http://schemas.openxmlformats.org/officeDocument/2006/relationships/notesSlide" Target="/ppt/notesSlides/notesSlide4.xml" Id="R6ab40ba5ae7a404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1d772721c9b4afc" /><Relationship Type="http://schemas.openxmlformats.org/officeDocument/2006/relationships/chart" Target="/ppt/slides/charts/chart1.xml" Id="Redea861ab0934c73" /><Relationship Type="http://schemas.openxmlformats.org/officeDocument/2006/relationships/notesSlide" Target="/ppt/notesSlides/notesSlide5.xml" Id="Rcb470d82cf774ad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e8fd0d306134899" /><Relationship Type="http://schemas.openxmlformats.org/officeDocument/2006/relationships/notesSlide" Target="/ppt/notesSlides/notesSlide6.xml" Id="Rffa19d620d83450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30ee8b05a2c4cc2" /><Relationship Type="http://schemas.openxmlformats.org/officeDocument/2006/relationships/notesSlide" Target="/ppt/notesSlides/notesSlide7.xml" Id="Rec3abadd0a7f4ae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d7a3f5a824e47a5" /><Relationship Type="http://schemas.openxmlformats.org/officeDocument/2006/relationships/notesSlide" Target="/ppt/notesSlides/notesSlide8.xml" Id="Rcd84fe0849034183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Exact marker rate</c:v>
          </c:tx>
          <c:spPr>
            <a:solidFill xmlns:a="http://schemas.openxmlformats.org/drawingml/2006/main">
              <a:srgbClr val="167C9D"/>
            </a:solidFill>
          </c:spPr>
          <c:invertIfNegative val="0"/>
          <c:cat>
            <c:strRef>
              <c:f>'Chart Data'!$A$2:$A$3</c:f>
              <c:strCache>
                <c:ptCount val="2"/>
                <c:pt idx="0">
                  <c:v>Baseline</c:v>
                </c:pt>
                <c:pt idx="1">
                  <c:v>Input filter</c:v>
                </c:pt>
              </c:strCache>
            </c:strRef>
          </c:cat>
          <c:val>
            <c:numRef>
              <c:f>'Chart Data'!$B$2:$B$3</c:f>
              <c:numCache>
                <c:formatCode>0%</c:formatCode>
                <c:ptCount val="2"/>
                <c:pt idx="0">
                  <c:v>0.375</c:v>
                </c:pt>
                <c:pt idx="1">
                  <c:v>0</c:v>
                </c:pt>
              </c:numCache>
            </c:numRef>
          </c:val>
        </c:ser>
        <c:dLbls>
          <c:numFmt formatCode="0.0%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 b="1">
                  <a:solidFill>
                    <a:srgbClr val="143248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43248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0.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4E1E8"/>
              </a:solidFill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07A89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0.1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B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5DA891-3224-4272-B01D-DEE9A3002F8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62c51b060a488d"/>
          <a:stretch xmlns:a="http://schemas.openxmlformats.org/drawingml/2006/main"/>
        </p:blipFill>
        <p:spPr>
          <a:xfrm xmlns:a="http://schemas.openxmlformats.org/drawingml/2006/main">
            <a:off x="6238875" y="1753793"/>
            <a:ext cx="5953125" cy="3350413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44C3A1-0CF2-4206-A8A6-2FFD325A5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00125"/>
            <a:ext cx="54292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4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4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4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4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4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4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4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4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4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4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4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Input Filters for</a:t>
            </a:r>
          </a:p>
          <a:p xmlns:a="http://schemas.openxmlformats.org/drawingml/2006/main">
            <a:pPr>
              <a:defRPr sz="4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 Local LLM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28AB1B-6894-4F11-87E1-6C51DB4CF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09875"/>
            <a:ext cx="5095875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75" b="0">
                <a:solidFill>
                  <a:srgbClr val="C4E5EE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C4E5EE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C4E5EE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C4E5EE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C4E5EE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C4E5EE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C4E5EE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C4E5EE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C4E5EE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C4E5E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C4E5EE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C4E5EE"/>
                </a:solidFill>
                <a:latin typeface="Arial"/>
                <a:ea typeface="Arial"/>
                <a:cs typeface="Arial"/>
              </a:rPr>
              <a:t>How much protection does an input filter add, and which legitimate requests does it reject?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535383-57DA-45CB-B9CD-312DF073D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3867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1">
                <a:solidFill>
                  <a:srgbClr val="4CC2D9"/>
                </a:solidFill>
                <a:latin typeface="Arial"/>
                <a:ea typeface="Arial"/>
                <a:cs typeface="Arial"/>
              </a:defRPr>
            </a:defPPr>
            <a:lvl1pPr>
              <a:defRPr sz="1425" b="1">
                <a:solidFill>
                  <a:srgbClr val="4CC2D9"/>
                </a:solidFill>
                <a:latin typeface="Arial"/>
                <a:ea typeface="Arial"/>
                <a:cs typeface="Arial"/>
              </a:defRPr>
            </a:lvl1pPr>
            <a:lvl2pPr>
              <a:defRPr sz="1425" b="1">
                <a:solidFill>
                  <a:srgbClr val="4CC2D9"/>
                </a:solidFill>
                <a:latin typeface="Arial"/>
                <a:ea typeface="Arial"/>
                <a:cs typeface="Arial"/>
              </a:defRPr>
            </a:lvl2pPr>
            <a:lvl3pPr>
              <a:defRPr sz="1425" b="1">
                <a:solidFill>
                  <a:srgbClr val="4CC2D9"/>
                </a:solidFill>
                <a:latin typeface="Arial"/>
                <a:ea typeface="Arial"/>
                <a:cs typeface="Arial"/>
              </a:defRPr>
            </a:lvl3pPr>
            <a:lvl4pPr>
              <a:defRPr sz="1425" b="1">
                <a:solidFill>
                  <a:srgbClr val="4CC2D9"/>
                </a:solidFill>
                <a:latin typeface="Arial"/>
                <a:ea typeface="Arial"/>
                <a:cs typeface="Arial"/>
              </a:defRPr>
            </a:lvl4pPr>
            <a:lvl5pPr>
              <a:defRPr sz="1425" b="1">
                <a:solidFill>
                  <a:srgbClr val="4CC2D9"/>
                </a:solidFill>
                <a:latin typeface="Arial"/>
                <a:ea typeface="Arial"/>
                <a:cs typeface="Arial"/>
              </a:defRPr>
            </a:lvl5pPr>
            <a:lvl6pPr>
              <a:defRPr sz="1425" b="1">
                <a:solidFill>
                  <a:srgbClr val="4CC2D9"/>
                </a:solidFill>
                <a:latin typeface="Arial"/>
                <a:ea typeface="Arial"/>
                <a:cs typeface="Arial"/>
              </a:defRPr>
            </a:lvl6pPr>
            <a:lvl7pPr>
              <a:defRPr sz="1425" b="1">
                <a:solidFill>
                  <a:srgbClr val="4CC2D9"/>
                </a:solidFill>
                <a:latin typeface="Arial"/>
                <a:ea typeface="Arial"/>
                <a:cs typeface="Arial"/>
              </a:defRPr>
            </a:lvl7pPr>
            <a:lvl8pPr>
              <a:defRPr sz="1425" b="1">
                <a:solidFill>
                  <a:srgbClr val="4CC2D9"/>
                </a:solidFill>
                <a:latin typeface="Arial"/>
                <a:ea typeface="Arial"/>
                <a:cs typeface="Arial"/>
              </a:defRPr>
            </a:lvl8pPr>
            <a:lvl9pPr>
              <a:defRPr sz="1425" b="1">
                <a:solidFill>
                  <a:srgbClr val="4CC2D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4CC2D9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4CC2D9"/>
                </a:solidFill>
                <a:latin typeface="Arial"/>
                <a:ea typeface="Arial"/>
                <a:cs typeface="Arial"/>
              </a:rPr>
              <a:t>Research basis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730E04-8EE8-4F16-B810-683C852CF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076825"/>
            <a:ext cx="519112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E0EDF3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E0EDF3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E0EDF3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E0EDF3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E0EDF3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E0EDF3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E0EDF3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E0EDF3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E0EDF3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E0EDF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E0EDF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E0EDF3"/>
                </a:solidFill>
                <a:latin typeface="Arial"/>
                <a:ea typeface="Arial"/>
                <a:cs typeface="Arial"/>
              </a:rPr>
              <a:t>Xin et al.</a:t>
            </a:r>
          </a:p>
          <a:p xmlns:a="http://schemas.openxmlformats.org/drawingml/2006/main">
            <a:pPr>
              <a:defRPr sz="1650" b="0">
                <a:solidFill>
                  <a:srgbClr val="E0EDF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E0EDF3"/>
                </a:solidFill>
                <a:latin typeface="Arial"/>
                <a:ea typeface="Arial"/>
                <a:cs typeface="Arial"/>
              </a:rPr>
              <a:t>Jailbreaking Attacks vs. Content Safety Filters</a:t>
            </a:r>
          </a:p>
          <a:p xmlns:a="http://schemas.openxmlformats.org/drawingml/2006/main">
            <a:pPr>
              <a:defRPr sz="1650" b="0">
                <a:solidFill>
                  <a:srgbClr val="E0EDF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E0EDF3"/>
                </a:solidFill>
                <a:latin typeface="Arial"/>
                <a:ea typeface="Arial"/>
                <a:cs typeface="Arial"/>
              </a:rPr>
              <a:t>Findings of ACL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8C7586-EE5A-435D-AE90-DAE0DB8DD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19850"/>
            <a:ext cx="5238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125" b="0">
                <a:solidFill>
                  <a:srgbClr val="91B7C9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91B7C9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91B7C9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91B7C9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91B7C9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91B7C9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91B7C9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91B7C9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91B7C9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91B7C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91B7C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91B7C9"/>
                </a:solidFill>
                <a:latin typeface="Arial"/>
                <a:ea typeface="Arial"/>
                <a:cs typeface="Arial"/>
              </a:rPr>
              <a:t>AI Security and Risk Analysis  AISRA1301</a:t>
            </a:r>
          </a:p>
        </p:txBody>
      </p:sp>
    </p:spTree>
    <p:extLst>
      <p:ext uri="{BB962C8B-B14F-4D97-AF65-F5344CB8AC3E}">
        <p14:creationId xmlns:p14="http://schemas.microsoft.com/office/powerpoint/2010/main" val="114428383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ABB604-6D1A-4A17-B7BD-FB85C202B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10382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102B3E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02B3E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02B3E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02B3E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02B3E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02B3E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02B3E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02B3E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02B3E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02B3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02B3E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2B3E"/>
                </a:solidFill>
                <a:latin typeface="Arial"/>
                <a:ea typeface="Arial"/>
                <a:cs typeface="Arial"/>
              </a:rPr>
              <a:t>Proposed AI system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1D50F1-9558-4E41-B12E-69AD222CA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49530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1">
                <a:solidFill>
                  <a:srgbClr val="607A89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607A89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607A89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607A89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607A89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607A89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607A89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607A89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607A89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607A8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607A8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07A89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8457E9-BFCF-46BA-B6B4-3FC954F94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23950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C2D9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D20F2E-3D27-479C-A619-F353BF7CA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33525"/>
            <a:ext cx="619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625" b="1">
                <a:solidFill>
                  <a:srgbClr val="167C9D"/>
                </a:solidFill>
                <a:latin typeface="Arial"/>
                <a:ea typeface="Arial"/>
                <a:cs typeface="Arial"/>
              </a:defRPr>
            </a:defPPr>
            <a:lvl1pPr>
              <a:defRPr sz="2625" b="1">
                <a:solidFill>
                  <a:srgbClr val="167C9D"/>
                </a:solidFill>
                <a:latin typeface="Arial"/>
                <a:ea typeface="Arial"/>
                <a:cs typeface="Arial"/>
              </a:defRPr>
            </a:lvl1pPr>
            <a:lvl2pPr>
              <a:defRPr sz="2625" b="1">
                <a:solidFill>
                  <a:srgbClr val="167C9D"/>
                </a:solidFill>
                <a:latin typeface="Arial"/>
                <a:ea typeface="Arial"/>
                <a:cs typeface="Arial"/>
              </a:defRPr>
            </a:lvl2pPr>
            <a:lvl3pPr>
              <a:defRPr sz="2625" b="1">
                <a:solidFill>
                  <a:srgbClr val="167C9D"/>
                </a:solidFill>
                <a:latin typeface="Arial"/>
                <a:ea typeface="Arial"/>
                <a:cs typeface="Arial"/>
              </a:defRPr>
            </a:lvl3pPr>
            <a:lvl4pPr>
              <a:defRPr sz="2625" b="1">
                <a:solidFill>
                  <a:srgbClr val="167C9D"/>
                </a:solidFill>
                <a:latin typeface="Arial"/>
                <a:ea typeface="Arial"/>
                <a:cs typeface="Arial"/>
              </a:defRPr>
            </a:lvl4pPr>
            <a:lvl5pPr>
              <a:defRPr sz="2625" b="1">
                <a:solidFill>
                  <a:srgbClr val="167C9D"/>
                </a:solidFill>
                <a:latin typeface="Arial"/>
                <a:ea typeface="Arial"/>
                <a:cs typeface="Arial"/>
              </a:defRPr>
            </a:lvl5pPr>
            <a:lvl6pPr>
              <a:defRPr sz="2625" b="1">
                <a:solidFill>
                  <a:srgbClr val="167C9D"/>
                </a:solidFill>
                <a:latin typeface="Arial"/>
                <a:ea typeface="Arial"/>
                <a:cs typeface="Arial"/>
              </a:defRPr>
            </a:lvl6pPr>
            <a:lvl7pPr>
              <a:defRPr sz="2625" b="1">
                <a:solidFill>
                  <a:srgbClr val="167C9D"/>
                </a:solidFill>
                <a:latin typeface="Arial"/>
                <a:ea typeface="Arial"/>
                <a:cs typeface="Arial"/>
              </a:defRPr>
            </a:lvl7pPr>
            <a:lvl8pPr>
              <a:defRPr sz="2625" b="1">
                <a:solidFill>
                  <a:srgbClr val="167C9D"/>
                </a:solidFill>
                <a:latin typeface="Arial"/>
                <a:ea typeface="Arial"/>
                <a:cs typeface="Arial"/>
              </a:defRPr>
            </a:lvl8pPr>
            <a:lvl9pPr>
              <a:defRPr sz="2625" b="1">
                <a:solidFill>
                  <a:srgbClr val="167C9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167C9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67C9D"/>
                </a:solidFill>
                <a:latin typeface="Arial"/>
                <a:ea typeface="Arial"/>
                <a:cs typeface="Arial"/>
              </a:rPr>
              <a:t>LLM Safety Lab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73AF8C-FD70-4148-8B37-D6077FBAA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05050"/>
            <a:ext cx="6477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143248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143248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143248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143248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143248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143248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143248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143248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143248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14324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228600" indent="-114300">
              <a:spcAft>
                <a:spcPts val="1300"/>
              </a:spcAft>
              <a:buChar char="•"/>
              <a:defRPr sz="2025" b="0">
                <a:solidFill>
                  <a:srgbClr val="143248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143248"/>
                </a:solidFill>
                <a:latin typeface="Arial"/>
                <a:ea typeface="Arial"/>
                <a:cs typeface="Arial"/>
              </a:rPr>
              <a:t>A working local web application with a real language model</a:t>
            </a:r>
          </a:p>
          <a:p xmlns:a="http://schemas.openxmlformats.org/drawingml/2006/main">
            <a:pPr marL="228600" indent="-114300">
              <a:spcAft>
                <a:spcPts val="1300"/>
              </a:spcAft>
              <a:buChar char="•"/>
              <a:defRPr sz="2025" b="0">
                <a:solidFill>
                  <a:srgbClr val="143248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143248"/>
                </a:solidFill>
                <a:latin typeface="Arial"/>
                <a:ea typeface="Arial"/>
                <a:cs typeface="Arial"/>
              </a:rPr>
              <a:t>Two modes share the same model: baseline and input-filtered</a:t>
            </a:r>
          </a:p>
          <a:p xmlns:a="http://schemas.openxmlformats.org/drawingml/2006/main">
            <a:pPr marL="228600" indent="-114300">
              <a:spcAft>
                <a:spcPts val="1300"/>
              </a:spcAft>
              <a:buChar char="•"/>
              <a:defRPr sz="2025" b="0">
                <a:solidFill>
                  <a:srgbClr val="143248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143248"/>
                </a:solidFill>
                <a:latin typeface="Arial"/>
                <a:ea typeface="Arial"/>
                <a:cs typeface="Arial"/>
              </a:rPr>
              <a:t>Observable answer, block decision, response time and tokens</a:t>
            </a:r>
          </a:p>
          <a:p xmlns:a="http://schemas.openxmlformats.org/drawingml/2006/main">
            <a:pPr marL="228600" indent="-114300">
              <a:spcAft>
                <a:spcPts val="1300"/>
              </a:spcAft>
              <a:buChar char="•"/>
              <a:defRPr sz="2025" b="0">
                <a:solidFill>
                  <a:srgbClr val="143248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143248"/>
                </a:solidFill>
                <a:latin typeface="Arial"/>
                <a:ea typeface="Arial"/>
                <a:cs typeface="Arial"/>
              </a:rPr>
              <a:t>Every completed request enters a local audit log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784B5A-0873-4433-A549-6152B20BA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19750"/>
            <a:ext cx="619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00" b="1">
                <a:solidFill>
                  <a:srgbClr val="102B3E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102B3E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102B3E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102B3E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102B3E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102B3E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102B3E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102B3E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102B3E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102B3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02B3E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02B3E"/>
                </a:solidFill>
                <a:latin typeface="Arial"/>
                <a:ea typeface="Arial"/>
                <a:cs typeface="Arial"/>
              </a:rPr>
              <a:t>Qwen2.5-0.5B-Instruct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5D3C29-D0EC-471D-BDE8-8185F9D31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48375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607A89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607A89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607A89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607A89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607A89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607A89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607A89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607A89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607A89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607A8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07A89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07A89"/>
                </a:solidFill>
                <a:latin typeface="Arial"/>
                <a:ea typeface="Arial"/>
                <a:cs typeface="Arial"/>
              </a:rPr>
              <a:t>Local inference on GTX 1660 with 6 GB VRAM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EFBBCB-90B3-45EB-B1AF-991EEA9E93A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e64d3e2bec4ccb"/>
          <a:stretch xmlns:a="http://schemas.openxmlformats.org/drawingml/2006/main"/>
        </p:blipFill>
        <p:spPr>
          <a:xfrm xmlns:a="http://schemas.openxmlformats.org/drawingml/2006/main">
            <a:off x="7905750" y="1841719"/>
            <a:ext cx="3219450" cy="3812736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C044DB-5D89-4BDA-80D8-87ED9F7EC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1057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050" b="0">
                <a:solidFill>
                  <a:srgbClr val="607A89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607A89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607A89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607A89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607A89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607A89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607A89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607A89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607A89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607A8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07A8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07A89"/>
                </a:solidFill>
                <a:latin typeface="Arial"/>
                <a:ea typeface="Arial"/>
                <a:cs typeface="Arial"/>
              </a:rPr>
              <a:t>AISRA1301  Midterm Project  22 October 2026</a:t>
            </a:r>
          </a:p>
        </p:txBody>
      </p:sp>
    </p:spTree>
    <p:extLst>
      <p:ext uri="{BB962C8B-B14F-4D97-AF65-F5344CB8AC3E}">
        <p14:creationId xmlns:p14="http://schemas.microsoft.com/office/powerpoint/2010/main" val="107721742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E5D883-DE31-414B-9C8B-E9B47491C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10382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102B3E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02B3E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02B3E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02B3E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02B3E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02B3E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02B3E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02B3E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02B3E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02B3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02B3E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2B3E"/>
                </a:solidFill>
                <a:latin typeface="Arial"/>
                <a:ea typeface="Arial"/>
                <a:cs typeface="Arial"/>
              </a:rPr>
              <a:t>System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A25796-91B0-4E2D-B770-FB6A61D11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49530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1">
                <a:solidFill>
                  <a:srgbClr val="607A89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607A89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607A89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607A89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607A89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607A89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607A89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607A89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607A89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607A8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607A8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07A89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6866CF-0D02-4A22-A3F8-8A05CCEB1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23950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C2D9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C99927-A0D9-4320-B438-6B46E2131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00275"/>
            <a:ext cx="20955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02B3E"/>
          </a:solidFill>
          <a:ln xmlns:a="http://schemas.openxmlformats.org/drawingml/2006/main" w="9525">
            <a:solidFill>
              <a:srgbClr val="102B3E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Browser or</a:t>
            </a:r>
          </a:p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garak client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1B57C5-FCD0-4FDB-913A-1DCBDE66C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476500"/>
            <a:ext cx="6477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CC2D9"/>
          </a:solidFill>
          <a:ln xmlns:a="http://schemas.openxmlformats.org/drawingml/2006/main" w="0">
            <a:solidFill>
              <a:srgbClr val="4CC2D9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36D1A7-B055-413B-93E3-E14C6C7CE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200275"/>
            <a:ext cx="20955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67C9D"/>
          </a:solidFill>
          <a:ln xmlns:a="http://schemas.openxmlformats.org/drawingml/2006/main" w="9525">
            <a:solidFill>
              <a:srgbClr val="167C9D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HTTP endpoint</a:t>
            </a:r>
          </a:p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/evaluate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B7AFF9-CAF4-4F1F-93B2-6F8777746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2476500"/>
            <a:ext cx="6477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CC2D9"/>
          </a:solidFill>
          <a:ln xmlns:a="http://schemas.openxmlformats.org/drawingml/2006/main" w="0">
            <a:solidFill>
              <a:srgbClr val="4CC2D9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A363ED-7FE0-4A73-A6C3-CAD8765BA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2200275"/>
            <a:ext cx="1952625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24866F"/>
          </a:solidFill>
          <a:ln xmlns:a="http://schemas.openxmlformats.org/drawingml/2006/main" w="9525">
            <a:solidFill>
              <a:srgbClr val="24866F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Optional</a:t>
            </a:r>
          </a:p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input filter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905902-4972-4AB8-B745-23278E9AA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2476500"/>
            <a:ext cx="5524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CC2D9"/>
          </a:solidFill>
          <a:ln xmlns:a="http://schemas.openxmlformats.org/drawingml/2006/main" w="0">
            <a:solidFill>
              <a:srgbClr val="4CC2D9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BEC67D-146B-47E0-AD5C-EDF797F20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200275"/>
            <a:ext cx="16383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02B3E"/>
          </a:solidFill>
          <a:ln xmlns:a="http://schemas.openxmlformats.org/drawingml/2006/main" w="9525">
            <a:solidFill>
              <a:srgbClr val="102B3E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Pinned Qwen</a:t>
            </a:r>
          </a:p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inference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42C805-3504-47F7-A4B1-F283829F0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04950"/>
            <a:ext cx="904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167C9D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167C9D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167C9D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167C9D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167C9D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167C9D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167C9D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167C9D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167C9D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167C9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67C9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67C9D"/>
                </a:solidFill>
                <a:latin typeface="Arial"/>
                <a:ea typeface="Arial"/>
                <a:cs typeface="Arial"/>
              </a:rPr>
              <a:t>One shared application path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E4EB27-D3C7-48B9-B031-ADDDAA732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57600"/>
            <a:ext cx="10477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75" b="0">
                <a:solidFill>
                  <a:srgbClr val="143248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143248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143248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143248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143248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143248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143248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143248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143248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14324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43248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43248"/>
                </a:solidFill>
                <a:latin typeface="Arial"/>
                <a:ea typeface="Arial"/>
                <a:cs typeface="Arial"/>
              </a:rPr>
              <a:t>Blocked requests receive a standard refusal. Allowed requests reach identical model weights, system instructions and decoding.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905948-B22F-4E81-9D58-C71E42B1C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7205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725" b="1">
                <a:solidFill>
                  <a:srgbClr val="167C9D"/>
                </a:solidFill>
                <a:latin typeface="Arial"/>
                <a:ea typeface="Arial"/>
                <a:cs typeface="Arial"/>
              </a:defRPr>
            </a:defPPr>
            <a:lvl1pPr>
              <a:defRPr sz="1725" b="1">
                <a:solidFill>
                  <a:srgbClr val="167C9D"/>
                </a:solidFill>
                <a:latin typeface="Arial"/>
                <a:ea typeface="Arial"/>
                <a:cs typeface="Arial"/>
              </a:defRPr>
            </a:lvl1pPr>
            <a:lvl2pPr>
              <a:defRPr sz="1725" b="1">
                <a:solidFill>
                  <a:srgbClr val="167C9D"/>
                </a:solidFill>
                <a:latin typeface="Arial"/>
                <a:ea typeface="Arial"/>
                <a:cs typeface="Arial"/>
              </a:defRPr>
            </a:lvl2pPr>
            <a:lvl3pPr>
              <a:defRPr sz="1725" b="1">
                <a:solidFill>
                  <a:srgbClr val="167C9D"/>
                </a:solidFill>
                <a:latin typeface="Arial"/>
                <a:ea typeface="Arial"/>
                <a:cs typeface="Arial"/>
              </a:defRPr>
            </a:lvl3pPr>
            <a:lvl4pPr>
              <a:defRPr sz="1725" b="1">
                <a:solidFill>
                  <a:srgbClr val="167C9D"/>
                </a:solidFill>
                <a:latin typeface="Arial"/>
                <a:ea typeface="Arial"/>
                <a:cs typeface="Arial"/>
              </a:defRPr>
            </a:lvl4pPr>
            <a:lvl5pPr>
              <a:defRPr sz="1725" b="1">
                <a:solidFill>
                  <a:srgbClr val="167C9D"/>
                </a:solidFill>
                <a:latin typeface="Arial"/>
                <a:ea typeface="Arial"/>
                <a:cs typeface="Arial"/>
              </a:defRPr>
            </a:lvl5pPr>
            <a:lvl6pPr>
              <a:defRPr sz="1725" b="1">
                <a:solidFill>
                  <a:srgbClr val="167C9D"/>
                </a:solidFill>
                <a:latin typeface="Arial"/>
                <a:ea typeface="Arial"/>
                <a:cs typeface="Arial"/>
              </a:defRPr>
            </a:lvl6pPr>
            <a:lvl7pPr>
              <a:defRPr sz="1725" b="1">
                <a:solidFill>
                  <a:srgbClr val="167C9D"/>
                </a:solidFill>
                <a:latin typeface="Arial"/>
                <a:ea typeface="Arial"/>
                <a:cs typeface="Arial"/>
              </a:defRPr>
            </a:lvl7pPr>
            <a:lvl8pPr>
              <a:defRPr sz="1725" b="1">
                <a:solidFill>
                  <a:srgbClr val="167C9D"/>
                </a:solidFill>
                <a:latin typeface="Arial"/>
                <a:ea typeface="Arial"/>
                <a:cs typeface="Arial"/>
              </a:defRPr>
            </a:lvl8pPr>
            <a:lvl9pPr>
              <a:defRPr sz="1725" b="1">
                <a:solidFill>
                  <a:srgbClr val="167C9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67C9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67C9D"/>
                </a:solidFill>
                <a:latin typeface="Arial"/>
                <a:ea typeface="Arial"/>
                <a:cs typeface="Arial"/>
              </a:rPr>
              <a:t>Audit evidence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95F3D3-BB35-4B9E-9B46-5F11A0BBF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38775"/>
            <a:ext cx="10191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025" b="1">
                <a:solidFill>
                  <a:srgbClr val="102B3E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102B3E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102B3E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102B3E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102B3E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102B3E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102B3E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102B3E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102B3E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102B3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02B3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2B3E"/>
                </a:solidFill>
                <a:latin typeface="Arial"/>
                <a:ea typeface="Arial"/>
                <a:cs typeface="Arial"/>
              </a:rPr>
              <a:t>Input hash, configuration, matched rules, response, token count and elapsed time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2D60E0-4874-4472-B3C4-95A5E0FAC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1057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050" b="0">
                <a:solidFill>
                  <a:srgbClr val="607A89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607A89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607A89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607A89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607A89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607A89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607A89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607A89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607A89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607A8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07A8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07A89"/>
                </a:solidFill>
                <a:latin typeface="Arial"/>
                <a:ea typeface="Arial"/>
                <a:cs typeface="Arial"/>
              </a:rPr>
              <a:t>AISRA1301  Midterm Project  22 October 2026</a:t>
            </a:r>
          </a:p>
        </p:txBody>
      </p:sp>
    </p:spTree>
    <p:extLst>
      <p:ext uri="{BB962C8B-B14F-4D97-AF65-F5344CB8AC3E}">
        <p14:creationId xmlns:p14="http://schemas.microsoft.com/office/powerpoint/2010/main" val="162865709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F587FD-8F51-441F-9FDF-FA2C63F9B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10382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102B3E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02B3E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02B3E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02B3E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02B3E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02B3E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02B3E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02B3E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02B3E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02B3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02B3E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2B3E"/>
                </a:solidFill>
                <a:latin typeface="Arial"/>
                <a:ea typeface="Arial"/>
                <a:cs typeface="Arial"/>
              </a:rPr>
              <a:t>Research tool and experimental setup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C2C6EF-7801-4672-846C-D1BD4A445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49530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1">
                <a:solidFill>
                  <a:srgbClr val="607A89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607A89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607A89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607A89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607A89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607A89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607A89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607A89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607A89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607A8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607A8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07A89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C13F4B-9FEA-423A-A164-46DEDDA9B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23950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C2D9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7C8B28-9303-43AE-A8DF-0452BC21F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14475"/>
            <a:ext cx="476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400" b="1">
                <a:solidFill>
                  <a:srgbClr val="167C9D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167C9D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167C9D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167C9D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167C9D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167C9D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167C9D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167C9D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167C9D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167C9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167C9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67C9D"/>
                </a:solidFill>
                <a:latin typeface="Arial"/>
                <a:ea typeface="Arial"/>
                <a:cs typeface="Arial"/>
              </a:rPr>
              <a:t>NVIDIA garak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C6E124-C063-4D7A-AB14-F69EEAA33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19325"/>
            <a:ext cx="4857750" cy="2914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950" b="0">
                <a:solidFill>
                  <a:srgbClr val="143248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143248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143248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143248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143248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143248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143248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143248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143248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14324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228600" indent="-114300">
              <a:spcAft>
                <a:spcPts val="1300"/>
              </a:spcAft>
              <a:buChar char="•"/>
              <a:defRPr sz="1950" b="0">
                <a:solidFill>
                  <a:srgbClr val="143248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143248"/>
                </a:solidFill>
                <a:latin typeface="Arial"/>
                <a:ea typeface="Arial"/>
                <a:cs typeface="Arial"/>
              </a:rPr>
              <a:t>32 sampled PromptInject prompts</a:t>
            </a:r>
          </a:p>
          <a:p xmlns:a="http://schemas.openxmlformats.org/drawingml/2006/main">
            <a:pPr marL="228600" indent="-114300">
              <a:spcAft>
                <a:spcPts val="1300"/>
              </a:spcAft>
              <a:buChar char="•"/>
              <a:defRPr sz="1950" b="0">
                <a:solidFill>
                  <a:srgbClr val="143248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143248"/>
                </a:solidFill>
                <a:latin typeface="Arial"/>
                <a:ea typeface="Arial"/>
                <a:cs typeface="Arial"/>
              </a:rPr>
              <a:t>One DAN 11.0 prompt</a:t>
            </a:r>
          </a:p>
          <a:p xmlns:a="http://schemas.openxmlformats.org/drawingml/2006/main">
            <a:pPr marL="228600" indent="-114300">
              <a:spcAft>
                <a:spcPts val="1300"/>
              </a:spcAft>
              <a:buChar char="•"/>
              <a:defRPr sz="1950" b="0">
                <a:solidFill>
                  <a:srgbClr val="143248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143248"/>
                </a:solidFill>
                <a:latin typeface="Arial"/>
                <a:ea typeface="Arial"/>
                <a:cs typeface="Arial"/>
              </a:rPr>
              <a:t>Both modes receive identical prompts</a:t>
            </a:r>
          </a:p>
          <a:p xmlns:a="http://schemas.openxmlformats.org/drawingml/2006/main">
            <a:pPr marL="228600" indent="-114300">
              <a:spcAft>
                <a:spcPts val="1300"/>
              </a:spcAft>
              <a:buChar char="•"/>
              <a:defRPr sz="1950" b="0">
                <a:solidFill>
                  <a:srgbClr val="143248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143248"/>
                </a:solidFill>
                <a:latin typeface="Arial"/>
                <a:ea typeface="Arial"/>
                <a:cs typeface="Arial"/>
              </a:rPr>
              <a:t>Official exact-string and refusal detectors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803FAA-29A7-4FB3-9241-B77A3ABBC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514475"/>
            <a:ext cx="476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400" b="1">
                <a:solidFill>
                  <a:srgbClr val="167C9D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167C9D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167C9D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167C9D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167C9D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167C9D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167C9D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167C9D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167C9D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167C9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167C9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67C9D"/>
                </a:solidFill>
                <a:latin typeface="Arial"/>
                <a:ea typeface="Arial"/>
                <a:cs typeface="Arial"/>
              </a:rPr>
              <a:t>96 custom responses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289A65-DF11-4F22-A80F-3824E0501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219325"/>
            <a:ext cx="4857750" cy="2914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950" b="0">
                <a:solidFill>
                  <a:srgbClr val="143248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143248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143248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143248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143248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143248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143248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143248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143248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14324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228600" indent="-114300">
              <a:spcAft>
                <a:spcPts val="1300"/>
              </a:spcAft>
              <a:buChar char="•"/>
              <a:defRPr sz="1950" b="0">
                <a:solidFill>
                  <a:srgbClr val="143248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143248"/>
                </a:solidFill>
                <a:latin typeface="Arial"/>
                <a:ea typeface="Arial"/>
                <a:cs typeface="Arial"/>
              </a:rPr>
              <a:t>24 attack variants and 24 benign inputs, each tested twice</a:t>
            </a:r>
          </a:p>
          <a:p xmlns:a="http://schemas.openxmlformats.org/drawingml/2006/main">
            <a:pPr marL="228600" indent="-114300">
              <a:spcAft>
                <a:spcPts val="1300"/>
              </a:spcAft>
              <a:buChar char="•"/>
              <a:defRPr sz="1950" b="0">
                <a:solidFill>
                  <a:srgbClr val="143248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143248"/>
                </a:solidFill>
                <a:latin typeface="Arial"/>
                <a:ea typeface="Arial"/>
                <a:cs typeface="Arial"/>
              </a:rPr>
              <a:t>Rules frozen before observing these outputs</a:t>
            </a:r>
          </a:p>
          <a:p xmlns:a="http://schemas.openxmlformats.org/drawingml/2006/main">
            <a:pPr marL="228600" indent="-114300">
              <a:spcAft>
                <a:spcPts val="1300"/>
              </a:spcAft>
              <a:buChar char="•"/>
              <a:defRPr sz="1950" b="0">
                <a:solidFill>
                  <a:srgbClr val="143248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143248"/>
                </a:solidFill>
                <a:latin typeface="Arial"/>
                <a:ea typeface="Arial"/>
                <a:cs typeface="Arial"/>
              </a:rPr>
              <a:t>Alternating run order and excluded warm-up</a:t>
            </a:r>
          </a:p>
          <a:p xmlns:a="http://schemas.openxmlformats.org/drawingml/2006/main">
            <a:pPr marL="228600" indent="-114300">
              <a:spcAft>
                <a:spcPts val="1300"/>
              </a:spcAft>
              <a:buChar char="•"/>
              <a:defRPr sz="1950" b="0">
                <a:solidFill>
                  <a:srgbClr val="143248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143248"/>
                </a:solidFill>
                <a:latin typeface="Arial"/>
                <a:ea typeface="Arial"/>
                <a:cs typeface="Arial"/>
              </a:rPr>
              <a:t>Input hashes and paired output checks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04BF6C-327B-46F0-A543-6C9D24F6F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57825"/>
            <a:ext cx="2333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1">
                <a:solidFill>
                  <a:srgbClr val="607A89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607A89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607A89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607A89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607A89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607A89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607A89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607A89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607A89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607A8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607A8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607A89"/>
                </a:solidFill>
                <a:latin typeface="Arial"/>
                <a:ea typeface="Arial"/>
                <a:cs typeface="Arial"/>
              </a:rPr>
              <a:t>Fixed conditions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A64F9F-AF29-4870-8382-8743383EE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24550"/>
            <a:ext cx="10763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725" b="1">
                <a:solidFill>
                  <a:srgbClr val="102B3E"/>
                </a:solidFill>
                <a:latin typeface="Arial"/>
                <a:ea typeface="Arial"/>
                <a:cs typeface="Arial"/>
              </a:defRPr>
            </a:defPPr>
            <a:lvl1pPr>
              <a:defRPr sz="1725" b="1">
                <a:solidFill>
                  <a:srgbClr val="102B3E"/>
                </a:solidFill>
                <a:latin typeface="Arial"/>
                <a:ea typeface="Arial"/>
                <a:cs typeface="Arial"/>
              </a:defRPr>
            </a:lvl1pPr>
            <a:lvl2pPr>
              <a:defRPr sz="1725" b="1">
                <a:solidFill>
                  <a:srgbClr val="102B3E"/>
                </a:solidFill>
                <a:latin typeface="Arial"/>
                <a:ea typeface="Arial"/>
                <a:cs typeface="Arial"/>
              </a:defRPr>
            </a:lvl2pPr>
            <a:lvl3pPr>
              <a:defRPr sz="1725" b="1">
                <a:solidFill>
                  <a:srgbClr val="102B3E"/>
                </a:solidFill>
                <a:latin typeface="Arial"/>
                <a:ea typeface="Arial"/>
                <a:cs typeface="Arial"/>
              </a:defRPr>
            </a:lvl3pPr>
            <a:lvl4pPr>
              <a:defRPr sz="1725" b="1">
                <a:solidFill>
                  <a:srgbClr val="102B3E"/>
                </a:solidFill>
                <a:latin typeface="Arial"/>
                <a:ea typeface="Arial"/>
                <a:cs typeface="Arial"/>
              </a:defRPr>
            </a:lvl4pPr>
            <a:lvl5pPr>
              <a:defRPr sz="1725" b="1">
                <a:solidFill>
                  <a:srgbClr val="102B3E"/>
                </a:solidFill>
                <a:latin typeface="Arial"/>
                <a:ea typeface="Arial"/>
                <a:cs typeface="Arial"/>
              </a:defRPr>
            </a:lvl5pPr>
            <a:lvl6pPr>
              <a:defRPr sz="1725" b="1">
                <a:solidFill>
                  <a:srgbClr val="102B3E"/>
                </a:solidFill>
                <a:latin typeface="Arial"/>
                <a:ea typeface="Arial"/>
                <a:cs typeface="Arial"/>
              </a:defRPr>
            </a:lvl6pPr>
            <a:lvl7pPr>
              <a:defRPr sz="1725" b="1">
                <a:solidFill>
                  <a:srgbClr val="102B3E"/>
                </a:solidFill>
                <a:latin typeface="Arial"/>
                <a:ea typeface="Arial"/>
                <a:cs typeface="Arial"/>
              </a:defRPr>
            </a:lvl7pPr>
            <a:lvl8pPr>
              <a:defRPr sz="1725" b="1">
                <a:solidFill>
                  <a:srgbClr val="102B3E"/>
                </a:solidFill>
                <a:latin typeface="Arial"/>
                <a:ea typeface="Arial"/>
                <a:cs typeface="Arial"/>
              </a:defRPr>
            </a:lvl8pPr>
            <a:lvl9pPr>
              <a:defRPr sz="1725" b="1">
                <a:solidFill>
                  <a:srgbClr val="102B3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02B3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B3E"/>
                </a:solidFill>
                <a:latin typeface="Arial"/>
                <a:ea typeface="Arial"/>
                <a:cs typeface="Arial"/>
              </a:rPr>
              <a:t>Model revision 7ae5576    Greedy decoding    96 output tokens    Seed 42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AB8778-AE5B-4294-9E8C-4D4B03471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1057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050" b="0">
                <a:solidFill>
                  <a:srgbClr val="607A89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607A89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607A89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607A89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607A89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607A89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607A89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607A89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607A89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607A8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07A8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07A89"/>
                </a:solidFill>
                <a:latin typeface="Arial"/>
                <a:ea typeface="Arial"/>
                <a:cs typeface="Arial"/>
              </a:rPr>
              <a:t>AISRA1301  Midterm Project  22 October 2026</a:t>
            </a:r>
          </a:p>
        </p:txBody>
      </p:sp>
    </p:spTree>
    <p:extLst>
      <p:ext uri="{BB962C8B-B14F-4D97-AF65-F5344CB8AC3E}">
        <p14:creationId xmlns:p14="http://schemas.microsoft.com/office/powerpoint/2010/main" val="91739780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D79AC8-471D-4F0A-B64A-280308944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10382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102B3E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02B3E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02B3E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02B3E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02B3E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02B3E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02B3E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02B3E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02B3E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02B3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02B3E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2B3E"/>
                </a:solidFill>
                <a:latin typeface="Arial"/>
                <a:ea typeface="Arial"/>
                <a:cs typeface="Arial"/>
              </a:rPr>
              <a:t>Garak results before and after filtering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278A3A-50E7-4066-AFD6-29A1AF52F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49530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1">
                <a:solidFill>
                  <a:srgbClr val="607A89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607A89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607A89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607A89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607A89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607A89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607A89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607A89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607A89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607A8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607A8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07A89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F02CCE-5FAF-4229-B0E0-E98E79566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23950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C2D9"/>
          </a:solidFill>
          <a:ln xmlns:a="http://schemas.openxmlformats.org/drawingml/2006/main" w="0">
            <a:noFill/>
          </a:ln>
        </p:spPr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8B5810C2-ECE5-4EEC-986C-13642612FC3B}"/>
              </a:ext>
            </a:extLst>
          </p:cNvPr>
          <p:cNvGraphicFramePr/>
          <p:nvPr/>
        </p:nvGraphicFramePr>
        <p:xfrm>
          <a:off xmlns:a="http://schemas.openxmlformats.org/drawingml/2006/main" x="666750" y="1657350"/>
          <a:ext xmlns:a="http://schemas.openxmlformats.org/drawingml/2006/main" cx="6667500" cy="36766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dea861ab0934c73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53D5D1-D214-4FCC-8DC8-F10AB9FE4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81927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167C9D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67C9D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67C9D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67C9D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67C9D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67C9D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67C9D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67C9D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67C9D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67C9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67C9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67C9D"/>
                </a:solidFill>
                <a:latin typeface="Arial"/>
                <a:ea typeface="Arial"/>
                <a:cs typeface="Arial"/>
              </a:rPr>
              <a:t>12/32 to 0/32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3635F6-CB34-41DC-9A13-34498F155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543175"/>
            <a:ext cx="333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607A89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607A89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607A89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607A89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607A89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607A89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607A89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607A89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607A89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607A8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07A89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07A89"/>
                </a:solidFill>
                <a:latin typeface="Arial"/>
                <a:ea typeface="Arial"/>
                <a:cs typeface="Arial"/>
              </a:rPr>
              <a:t>PromptInject exact hits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32C596-481D-498D-BF0F-71FEBE981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562350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CA5757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CA5757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CA5757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CA5757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CA5757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CA5757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CA5757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CA5757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CA5757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CA575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CA575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CA5757"/>
                </a:solidFill>
                <a:latin typeface="Arial"/>
                <a:ea typeface="Arial"/>
                <a:cs typeface="Arial"/>
              </a:rPr>
              <a:t>1/1 to 0/1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0AFF7D-29A5-4855-AB95-96A40365E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286250"/>
            <a:ext cx="333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607A89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607A89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607A89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607A89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607A89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607A89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607A89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607A89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607A89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607A8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07A89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07A89"/>
                </a:solidFill>
                <a:latin typeface="Arial"/>
                <a:ea typeface="Arial"/>
                <a:cs typeface="Arial"/>
              </a:rPr>
              <a:t>DAN acknowledgement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D9122B-43CC-495F-B191-E58FFD967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86425"/>
            <a:ext cx="105727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725" b="1">
                <a:solidFill>
                  <a:srgbClr val="102B3E"/>
                </a:solidFill>
                <a:latin typeface="Arial"/>
                <a:ea typeface="Arial"/>
                <a:cs typeface="Arial"/>
              </a:defRPr>
            </a:defPPr>
            <a:lvl1pPr>
              <a:defRPr sz="1725" b="1">
                <a:solidFill>
                  <a:srgbClr val="102B3E"/>
                </a:solidFill>
                <a:latin typeface="Arial"/>
                <a:ea typeface="Arial"/>
                <a:cs typeface="Arial"/>
              </a:defRPr>
            </a:lvl1pPr>
            <a:lvl2pPr>
              <a:defRPr sz="1725" b="1">
                <a:solidFill>
                  <a:srgbClr val="102B3E"/>
                </a:solidFill>
                <a:latin typeface="Arial"/>
                <a:ea typeface="Arial"/>
                <a:cs typeface="Arial"/>
              </a:defRPr>
            </a:lvl2pPr>
            <a:lvl3pPr>
              <a:defRPr sz="1725" b="1">
                <a:solidFill>
                  <a:srgbClr val="102B3E"/>
                </a:solidFill>
                <a:latin typeface="Arial"/>
                <a:ea typeface="Arial"/>
                <a:cs typeface="Arial"/>
              </a:defRPr>
            </a:lvl3pPr>
            <a:lvl4pPr>
              <a:defRPr sz="1725" b="1">
                <a:solidFill>
                  <a:srgbClr val="102B3E"/>
                </a:solidFill>
                <a:latin typeface="Arial"/>
                <a:ea typeface="Arial"/>
                <a:cs typeface="Arial"/>
              </a:defRPr>
            </a:lvl4pPr>
            <a:lvl5pPr>
              <a:defRPr sz="1725" b="1">
                <a:solidFill>
                  <a:srgbClr val="102B3E"/>
                </a:solidFill>
                <a:latin typeface="Arial"/>
                <a:ea typeface="Arial"/>
                <a:cs typeface="Arial"/>
              </a:defRPr>
            </a:lvl5pPr>
            <a:lvl6pPr>
              <a:defRPr sz="1725" b="1">
                <a:solidFill>
                  <a:srgbClr val="102B3E"/>
                </a:solidFill>
                <a:latin typeface="Arial"/>
                <a:ea typeface="Arial"/>
                <a:cs typeface="Arial"/>
              </a:defRPr>
            </a:lvl6pPr>
            <a:lvl7pPr>
              <a:defRPr sz="1725" b="1">
                <a:solidFill>
                  <a:srgbClr val="102B3E"/>
                </a:solidFill>
                <a:latin typeface="Arial"/>
                <a:ea typeface="Arial"/>
                <a:cs typeface="Arial"/>
              </a:defRPr>
            </a:lvl7pPr>
            <a:lvl8pPr>
              <a:defRPr sz="1725" b="1">
                <a:solidFill>
                  <a:srgbClr val="102B3E"/>
                </a:solidFill>
                <a:latin typeface="Arial"/>
                <a:ea typeface="Arial"/>
                <a:cs typeface="Arial"/>
              </a:defRPr>
            </a:lvl8pPr>
            <a:lvl9pPr>
              <a:defRPr sz="1725" b="1">
                <a:solidFill>
                  <a:srgbClr val="102B3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02B3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B3E"/>
                </a:solidFill>
                <a:latin typeface="Arial"/>
                <a:ea typeface="Arial"/>
                <a:cs typeface="Arial"/>
              </a:rPr>
              <a:t>Normalised marker candidates: 15/32 to 1/32. Contextual review remains necessary.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790EC7-A7B1-4BA5-992F-5F3D43D57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1057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050" b="0">
                <a:solidFill>
                  <a:srgbClr val="607A89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607A89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607A89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607A89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607A89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607A89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607A89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607A89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607A89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607A8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07A8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07A89"/>
                </a:solidFill>
                <a:latin typeface="Arial"/>
                <a:ea typeface="Arial"/>
                <a:cs typeface="Arial"/>
              </a:rPr>
              <a:t>AISRA1301  Midterm Project  22 October 2026</a:t>
            </a:r>
          </a:p>
        </p:txBody>
      </p:sp>
    </p:spTree>
    <p:extLst>
      <p:ext uri="{BB962C8B-B14F-4D97-AF65-F5344CB8AC3E}">
        <p14:creationId xmlns:p14="http://schemas.microsoft.com/office/powerpoint/2010/main" val="50305832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D94C8E-5ED1-4C62-9C07-57F0B64BF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10382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102B3E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02B3E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02B3E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02B3E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02B3E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02B3E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02B3E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02B3E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02B3E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02B3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02B3E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2B3E"/>
                </a:solidFill>
                <a:latin typeface="Arial"/>
                <a:ea typeface="Arial"/>
                <a:cs typeface="Arial"/>
              </a:rPr>
              <a:t>Filter generalisation and usability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8B7F85-5736-40D4-8307-D01840D55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49530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1">
                <a:solidFill>
                  <a:srgbClr val="607A89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607A89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607A89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607A89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607A89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607A89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607A89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607A89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607A89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607A8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607A8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07A89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F48C0C-BFBE-4306-B077-52163BAE4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23950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C2D9"/>
          </a:solidFill>
          <a:ln xmlns:a="http://schemas.openxmlformats.org/drawingml/2006/main" w="0">
            <a:noFill/>
          </a:ln>
        </p:spPr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76F6BC-B0D9-4F4C-BF77-24D7AC2AE0CC}"/>
              </a:ext>
            </a:extLst>
          </p:cNvPr>
          <p:cNvGraphicFramePr/>
          <p:nvPr/>
        </p:nvGraphicFramePr>
        <p:xfrm>
          <a:off xmlns:a="http://schemas.openxmlformats.org/drawingml/2006/main" x="666750" y="1562100"/>
          <a:ext xmlns:a="http://schemas.openxmlformats.org/drawingml/2006/main" cx="10858500" cy="3143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429250"/>
                <a:gridCol w="2714625"/>
                <a:gridCol w="2714625"/>
              </a:tblGrid>
              <a:tr h="52387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Custom evaluation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4E1E8"/>
                      </a:solidFill>
                      <a:prstDash val="solid"/>
                    </a:lnL>
                    <a:lnR w="9525">
                      <a:solidFill>
                        <a:srgbClr val="D4E1E8"/>
                      </a:solidFill>
                      <a:prstDash val="solid"/>
                    </a:lnR>
                    <a:lnT w="9525">
                      <a:solidFill>
                        <a:srgbClr val="D4E1E8"/>
                      </a:solidFill>
                      <a:prstDash val="solid"/>
                    </a:lnT>
                    <a:lnB w="9525">
                      <a:solidFill>
                        <a:srgbClr val="D4E1E8"/>
                      </a:solidFill>
                      <a:prstDash val="solid"/>
                    </a:lnB>
                    <a:solidFill>
                      <a:srgbClr val="102B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Baseline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4E1E8"/>
                      </a:solidFill>
                      <a:prstDash val="solid"/>
                    </a:lnR>
                    <a:lnT w="9525">
                      <a:solidFill>
                        <a:srgbClr val="D4E1E8"/>
                      </a:solidFill>
                      <a:prstDash val="solid"/>
                    </a:lnT>
                    <a:lnB w="9525">
                      <a:solidFill>
                        <a:srgbClr val="D4E1E8"/>
                      </a:solidFill>
                      <a:prstDash val="solid"/>
                    </a:lnB>
                    <a:solidFill>
                      <a:srgbClr val="102B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Input filter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4E1E8"/>
                      </a:solidFill>
                      <a:prstDash val="solid"/>
                    </a:lnR>
                    <a:lnT w="9525">
                      <a:solidFill>
                        <a:srgbClr val="D4E1E8"/>
                      </a:solidFill>
                      <a:prstDash val="solid"/>
                    </a:lnT>
                    <a:lnB w="9525">
                      <a:solidFill>
                        <a:srgbClr val="D4E1E8"/>
                      </a:solidFill>
                      <a:prstDash val="solid"/>
                    </a:lnB>
                    <a:solidFill>
                      <a:srgbClr val="102B3E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43248"/>
                          </a:solidFill>
                          <a:latin typeface="Arial"/>
                          <a:ea typeface="Arial"/>
                          <a:cs typeface="Arial"/>
                        </a:rPr>
                        <a:t>Exact attack markers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4E1E8"/>
                      </a:solidFill>
                      <a:prstDash val="solid"/>
                    </a:lnL>
                    <a:lnR w="9525">
                      <a:solidFill>
                        <a:srgbClr val="D4E1E8"/>
                      </a:solidFill>
                      <a:prstDash val="solid"/>
                    </a:lnR>
                    <a:lnB w="9525">
                      <a:solidFill>
                        <a:srgbClr val="D4E1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3248"/>
                          </a:solidFill>
                          <a:latin typeface="Arial"/>
                          <a:ea typeface="Arial"/>
                          <a:cs typeface="Arial"/>
                        </a:rPr>
                        <a:t>0/24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4E1E8"/>
                      </a:solidFill>
                      <a:prstDash val="solid"/>
                    </a:lnR>
                    <a:lnB w="9525">
                      <a:solidFill>
                        <a:srgbClr val="D4E1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3248"/>
                          </a:solidFill>
                          <a:latin typeface="Arial"/>
                          <a:ea typeface="Arial"/>
                          <a:cs typeface="Arial"/>
                        </a:rPr>
                        <a:t>0/24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4E1E8"/>
                      </a:solidFill>
                      <a:prstDash val="solid"/>
                    </a:lnR>
                    <a:lnB w="9525">
                      <a:solidFill>
                        <a:srgbClr val="D4E1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43248"/>
                          </a:solidFill>
                          <a:latin typeface="Arial"/>
                          <a:ea typeface="Arial"/>
                          <a:cs typeface="Arial"/>
                        </a:rPr>
                        <a:t>Attack inputs blocked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4E1E8"/>
                      </a:solidFill>
                      <a:prstDash val="solid"/>
                    </a:lnL>
                    <a:lnR w="9525">
                      <a:solidFill>
                        <a:srgbClr val="D4E1E8"/>
                      </a:solidFill>
                      <a:prstDash val="solid"/>
                    </a:lnR>
                    <a:lnB w="9525">
                      <a:solidFill>
                        <a:srgbClr val="D4E1E8"/>
                      </a:solidFill>
                      <a:prstDash val="solid"/>
                    </a:lnB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3248"/>
                          </a:solidFill>
                          <a:latin typeface="Arial"/>
                          <a:ea typeface="Arial"/>
                          <a:cs typeface="Arial"/>
                        </a:rPr>
                        <a:t>0/24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4E1E8"/>
                      </a:solidFill>
                      <a:prstDash val="solid"/>
                    </a:lnR>
                    <a:lnB w="9525">
                      <a:solidFill>
                        <a:srgbClr val="D4E1E8"/>
                      </a:solidFill>
                      <a:prstDash val="solid"/>
                    </a:lnB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3248"/>
                          </a:solidFill>
                          <a:latin typeface="Arial"/>
                          <a:ea typeface="Arial"/>
                          <a:cs typeface="Arial"/>
                        </a:rPr>
                        <a:t>8/24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4E1E8"/>
                      </a:solidFill>
                      <a:prstDash val="solid"/>
                    </a:lnR>
                    <a:lnB w="9525">
                      <a:solidFill>
                        <a:srgbClr val="D4E1E8"/>
                      </a:solidFill>
                      <a:prstDash val="solid"/>
                    </a:lnB>
                    <a:solidFill>
                      <a:srgbClr val="F1F6F8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43248"/>
                          </a:solidFill>
                          <a:latin typeface="Arial"/>
                          <a:ea typeface="Arial"/>
                          <a:cs typeface="Arial"/>
                        </a:rPr>
                        <a:t>Benign inputs blocked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4E1E8"/>
                      </a:solidFill>
                      <a:prstDash val="solid"/>
                    </a:lnL>
                    <a:lnR w="9525">
                      <a:solidFill>
                        <a:srgbClr val="D4E1E8"/>
                      </a:solidFill>
                      <a:prstDash val="solid"/>
                    </a:lnR>
                    <a:lnB w="9525">
                      <a:solidFill>
                        <a:srgbClr val="D4E1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3248"/>
                          </a:solidFill>
                          <a:latin typeface="Arial"/>
                          <a:ea typeface="Arial"/>
                          <a:cs typeface="Arial"/>
                        </a:rPr>
                        <a:t>0/24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4E1E8"/>
                      </a:solidFill>
                      <a:prstDash val="solid"/>
                    </a:lnR>
                    <a:lnB w="9525">
                      <a:solidFill>
                        <a:srgbClr val="D4E1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3248"/>
                          </a:solidFill>
                          <a:latin typeface="Arial"/>
                          <a:ea typeface="Arial"/>
                          <a:cs typeface="Arial"/>
                        </a:rPr>
                        <a:t>8/24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4E1E8"/>
                      </a:solidFill>
                      <a:prstDash val="solid"/>
                    </a:lnR>
                    <a:lnB w="9525">
                      <a:solidFill>
                        <a:srgbClr val="D4E1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43248"/>
                          </a:solidFill>
                          <a:latin typeface="Arial"/>
                          <a:ea typeface="Arial"/>
                          <a:cs typeface="Arial"/>
                        </a:rPr>
                        <a:t>Ordinary strict answer matches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4E1E8"/>
                      </a:solidFill>
                      <a:prstDash val="solid"/>
                    </a:lnL>
                    <a:lnR w="9525">
                      <a:solidFill>
                        <a:srgbClr val="D4E1E8"/>
                      </a:solidFill>
                      <a:prstDash val="solid"/>
                    </a:lnR>
                    <a:lnB w="9525">
                      <a:solidFill>
                        <a:srgbClr val="D4E1E8"/>
                      </a:solidFill>
                      <a:prstDash val="solid"/>
                    </a:lnB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3248"/>
                          </a:solidFill>
                          <a:latin typeface="Arial"/>
                          <a:ea typeface="Arial"/>
                          <a:cs typeface="Arial"/>
                        </a:rPr>
                        <a:t>9/12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4E1E8"/>
                      </a:solidFill>
                      <a:prstDash val="solid"/>
                    </a:lnR>
                    <a:lnB w="9525">
                      <a:solidFill>
                        <a:srgbClr val="D4E1E8"/>
                      </a:solidFill>
                      <a:prstDash val="solid"/>
                    </a:lnB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3248"/>
                          </a:solidFill>
                          <a:latin typeface="Arial"/>
                          <a:ea typeface="Arial"/>
                          <a:cs typeface="Arial"/>
                        </a:rPr>
                        <a:t>9/12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4E1E8"/>
                      </a:solidFill>
                      <a:prstDash val="solid"/>
                    </a:lnR>
                    <a:lnB w="9525">
                      <a:solidFill>
                        <a:srgbClr val="D4E1E8"/>
                      </a:solidFill>
                      <a:prstDash val="solid"/>
                    </a:lnB>
                    <a:solidFill>
                      <a:srgbClr val="F1F6F8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43248"/>
                          </a:solidFill>
                          <a:latin typeface="Arial"/>
                          <a:ea typeface="Arial"/>
                          <a:cs typeface="Arial"/>
                        </a:rPr>
                        <a:t>Mean response time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4E1E8"/>
                      </a:solidFill>
                      <a:prstDash val="solid"/>
                    </a:lnL>
                    <a:lnR w="9525">
                      <a:solidFill>
                        <a:srgbClr val="D4E1E8"/>
                      </a:solidFill>
                      <a:prstDash val="solid"/>
                    </a:lnR>
                    <a:lnB w="9525">
                      <a:solidFill>
                        <a:srgbClr val="D4E1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3248"/>
                          </a:solidFill>
                          <a:latin typeface="Arial"/>
                          <a:ea typeface="Arial"/>
                          <a:cs typeface="Arial"/>
                        </a:rPr>
                        <a:t>1.408 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4E1E8"/>
                      </a:solidFill>
                      <a:prstDash val="solid"/>
                    </a:lnR>
                    <a:lnB w="9525">
                      <a:solidFill>
                        <a:srgbClr val="D4E1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3248"/>
                          </a:solidFill>
                          <a:latin typeface="Arial"/>
                          <a:ea typeface="Arial"/>
                          <a:cs typeface="Arial"/>
                        </a:rPr>
                        <a:t>0.683 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4E1E8"/>
                      </a:solidFill>
                      <a:prstDash val="solid"/>
                    </a:lnR>
                    <a:lnB w="9525">
                      <a:solidFill>
                        <a:srgbClr val="D4E1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ABC46E-5F99-4D35-A9E6-53D576795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05400"/>
            <a:ext cx="1076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250" b="1">
                <a:solidFill>
                  <a:srgbClr val="CA5757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CA5757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CA5757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CA5757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CA5757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CA5757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CA5757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CA5757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CA5757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CA575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CA575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CA5757"/>
                </a:solidFill>
                <a:latin typeface="Arial"/>
                <a:ea typeface="Arial"/>
                <a:cs typeface="Arial"/>
              </a:rPr>
              <a:t>Precision 50%    Recall 33.3%    F1 0.40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8D858B-74CD-40AD-897D-A7E743CAE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81675"/>
            <a:ext cx="10810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725" b="0">
                <a:solidFill>
                  <a:srgbClr val="143248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143248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143248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143248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143248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143248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143248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143248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143248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14324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4324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3248"/>
                </a:solidFill>
                <a:latin typeface="Arial"/>
                <a:ea typeface="Arial"/>
                <a:cs typeface="Arial"/>
              </a:rPr>
              <a:t>Faster refusals also discard useful requests. This set provides no additional ASR reduction because baseline already has zero exact marker hits.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DBA66A-9A07-4613-A7BD-15BEEA2CD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1057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050" b="0">
                <a:solidFill>
                  <a:srgbClr val="607A89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607A89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607A89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607A89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607A89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607A89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607A89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607A89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607A89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607A8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07A8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07A89"/>
                </a:solidFill>
                <a:latin typeface="Arial"/>
                <a:ea typeface="Arial"/>
                <a:cs typeface="Arial"/>
              </a:rPr>
              <a:t>AISRA1301  Midterm Project  22 October 2026</a:t>
            </a:r>
          </a:p>
        </p:txBody>
      </p:sp>
    </p:spTree>
    <p:extLst>
      <p:ext uri="{BB962C8B-B14F-4D97-AF65-F5344CB8AC3E}">
        <p14:creationId xmlns:p14="http://schemas.microsoft.com/office/powerpoint/2010/main" val="112063381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DFA4CB-E572-4978-B4CA-040436C6D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10382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102B3E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02B3E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02B3E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02B3E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02B3E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02B3E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02B3E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02B3E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02B3E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02B3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02B3E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2B3E"/>
                </a:solidFill>
                <a:latin typeface="Arial"/>
                <a:ea typeface="Arial"/>
                <a:cs typeface="Arial"/>
              </a:rPr>
              <a:t>Research extension and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5E0C36-E0BF-4BB7-9CE6-E3631CE3F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49530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1">
                <a:solidFill>
                  <a:srgbClr val="607A89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607A89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607A89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607A89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607A89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607A89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607A89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607A89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607A89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607A8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607A8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07A89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971119-1774-4B3B-AB19-048D45B9A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23950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C2D9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F385FB-671A-453A-81BC-7CDE66058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43050"/>
            <a:ext cx="571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400" b="1">
                <a:solidFill>
                  <a:srgbClr val="167C9D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167C9D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167C9D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167C9D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167C9D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167C9D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167C9D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167C9D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167C9D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167C9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167C9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67C9D"/>
                </a:solidFill>
                <a:latin typeface="Arial"/>
                <a:ea typeface="Arial"/>
                <a:cs typeface="Arial"/>
              </a:rPr>
              <a:t>Beyond a scanner example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2FF2C2-DB5E-422B-98A6-99607D27A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86000"/>
            <a:ext cx="6477000" cy="3219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143248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143248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143248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143248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143248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143248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143248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143248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143248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14324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228600" indent="-114300">
              <a:spcAft>
                <a:spcPts val="1300"/>
              </a:spcAft>
              <a:buChar char="•"/>
              <a:defRPr sz="2025" b="0">
                <a:solidFill>
                  <a:srgbClr val="143248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143248"/>
                </a:solidFill>
                <a:latin typeface="Arial"/>
                <a:ea typeface="Arial"/>
                <a:cs typeface="Arial"/>
              </a:rPr>
              <a:t>Connect garak to the actual demonstration application</a:t>
            </a:r>
          </a:p>
          <a:p xmlns:a="http://schemas.openxmlformats.org/drawingml/2006/main">
            <a:pPr marL="228600" indent="-114300">
              <a:spcAft>
                <a:spcPts val="1300"/>
              </a:spcAft>
              <a:buChar char="•"/>
              <a:defRPr sz="2025" b="0">
                <a:solidFill>
                  <a:srgbClr val="143248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143248"/>
                </a:solidFill>
                <a:latin typeface="Arial"/>
                <a:ea typeface="Arial"/>
                <a:cs typeface="Arial"/>
              </a:rPr>
              <a:t>Evaluate paraphrases, encoding, obfuscation and multilingual inputs</a:t>
            </a:r>
          </a:p>
          <a:p xmlns:a="http://schemas.openxmlformats.org/drawingml/2006/main">
            <a:pPr marL="228600" indent="-114300">
              <a:spcAft>
                <a:spcPts val="1300"/>
              </a:spcAft>
              <a:buChar char="•"/>
              <a:defRPr sz="2025" b="0">
                <a:solidFill>
                  <a:srgbClr val="143248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143248"/>
                </a:solidFill>
                <a:latin typeface="Arial"/>
                <a:ea typeface="Arial"/>
                <a:cs typeface="Arial"/>
              </a:rPr>
              <a:t>Measure benign mistakes alongside attack signatures</a:t>
            </a:r>
          </a:p>
          <a:p xmlns:a="http://schemas.openxmlformats.org/drawingml/2006/main">
            <a:pPr marL="228600" indent="-114300">
              <a:spcAft>
                <a:spcPts val="1300"/>
              </a:spcAft>
              <a:buChar char="•"/>
              <a:defRPr sz="2025" b="0">
                <a:solidFill>
                  <a:srgbClr val="143248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143248"/>
                </a:solidFill>
                <a:latin typeface="Arial"/>
                <a:ea typeface="Arial"/>
                <a:cs typeface="Arial"/>
              </a:rPr>
              <a:t>Audit exact matching against normalised marker candidates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F4EF9C-19AB-4246-A172-CC615508C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590675"/>
            <a:ext cx="323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00" b="1">
                <a:solidFill>
                  <a:srgbClr val="24866F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24866F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24866F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24866F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24866F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24866F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24866F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24866F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24866F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2486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4866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4866F"/>
                </a:solidFill>
                <a:latin typeface="Arial"/>
                <a:ea typeface="Arial"/>
                <a:cs typeface="Arial"/>
              </a:rPr>
              <a:t>Evidence checks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A9EA29-3316-4B88-84C0-920EEAC1F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371725"/>
            <a:ext cx="3238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550" b="1">
                <a:solidFill>
                  <a:srgbClr val="102B3E"/>
                </a:solidFill>
                <a:latin typeface="Arial"/>
                <a:ea typeface="Arial"/>
                <a:cs typeface="Arial"/>
              </a:defRPr>
            </a:defPPr>
            <a:lvl1pPr>
              <a:defRPr sz="2550" b="1">
                <a:solidFill>
                  <a:srgbClr val="102B3E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102B3E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102B3E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102B3E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102B3E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102B3E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102B3E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102B3E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102B3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02B3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B3E"/>
                </a:solidFill>
                <a:latin typeface="Arial"/>
                <a:ea typeface="Arial"/>
                <a:cs typeface="Arial"/>
              </a:rPr>
              <a:t>33 matched</a:t>
            </a:r>
          </a:p>
          <a:p xmlns:a="http://schemas.openxmlformats.org/drawingml/2006/main">
            <a:pPr>
              <a:defRPr sz="2550" b="1">
                <a:solidFill>
                  <a:srgbClr val="102B3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B3E"/>
                </a:solidFill>
                <a:latin typeface="Arial"/>
                <a:ea typeface="Arial"/>
                <a:cs typeface="Arial"/>
              </a:rPr>
              <a:t>garak pairs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9D327B-1BB5-479D-A3DE-B3419E66A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638550"/>
            <a:ext cx="3238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550" b="1">
                <a:solidFill>
                  <a:srgbClr val="102B3E"/>
                </a:solidFill>
                <a:latin typeface="Arial"/>
                <a:ea typeface="Arial"/>
                <a:cs typeface="Arial"/>
              </a:defRPr>
            </a:defPPr>
            <a:lvl1pPr>
              <a:defRPr sz="2550" b="1">
                <a:solidFill>
                  <a:srgbClr val="102B3E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102B3E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102B3E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102B3E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102B3E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102B3E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102B3E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102B3E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102B3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02B3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B3E"/>
                </a:solidFill>
                <a:latin typeface="Arial"/>
                <a:ea typeface="Arial"/>
                <a:cs typeface="Arial"/>
              </a:rPr>
              <a:t>48 matched</a:t>
            </a:r>
          </a:p>
          <a:p xmlns:a="http://schemas.openxmlformats.org/drawingml/2006/main">
            <a:pPr>
              <a:defRPr sz="2550" b="1">
                <a:solidFill>
                  <a:srgbClr val="102B3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B3E"/>
                </a:solidFill>
                <a:latin typeface="Arial"/>
                <a:ea typeface="Arial"/>
                <a:cs typeface="Arial"/>
              </a:rPr>
              <a:t>custom pairs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F70F2B-9F35-4A7A-8008-F1E1059AE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4962525"/>
            <a:ext cx="323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950" b="1">
                <a:solidFill>
                  <a:srgbClr val="607A89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607A89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607A89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607A89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607A89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607A89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607A89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607A89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607A89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607A8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607A89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607A89"/>
                </a:solidFill>
                <a:latin typeface="Arial"/>
                <a:ea typeface="Arial"/>
                <a:cs typeface="Arial"/>
              </a:rPr>
              <a:t>7 code checks</a:t>
            </a:r>
          </a:p>
          <a:p xmlns:a="http://schemas.openxmlformats.org/drawingml/2006/main">
            <a:pPr>
              <a:defRPr sz="1950" b="1">
                <a:solidFill>
                  <a:srgbClr val="607A89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607A89"/>
                </a:solidFill>
                <a:latin typeface="Arial"/>
                <a:ea typeface="Arial"/>
                <a:cs typeface="Arial"/>
              </a:rPr>
              <a:t>4 API boundary checks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6904C0-B035-4D48-B386-2847C6599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607A89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607A89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607A89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607A89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607A89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607A89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607A89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607A89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607A89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607A8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607A89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07A89"/>
                </a:solidFill>
                <a:latin typeface="Arial"/>
                <a:ea typeface="Arial"/>
                <a:cs typeface="Arial"/>
              </a:rPr>
              <a:t>Raw responses, fixed cases, configs, hashes, timing and review worksheet are included.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B08BF4-0250-47CB-BE05-4CCADE304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1057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050" b="0">
                <a:solidFill>
                  <a:srgbClr val="607A89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607A89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607A89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607A89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607A89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607A89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607A89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607A89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607A89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607A8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07A8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07A89"/>
                </a:solidFill>
                <a:latin typeface="Arial"/>
                <a:ea typeface="Arial"/>
                <a:cs typeface="Arial"/>
              </a:rPr>
              <a:t>AISRA1301  Midterm Project  22 October 2026</a:t>
            </a:r>
          </a:p>
        </p:txBody>
      </p:sp>
    </p:spTree>
    <p:extLst>
      <p:ext uri="{BB962C8B-B14F-4D97-AF65-F5344CB8AC3E}">
        <p14:creationId xmlns:p14="http://schemas.microsoft.com/office/powerpoint/2010/main" val="73922378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8173EB-8ACA-4369-AAC6-BA56C44D7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10382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102B3E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02B3E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02B3E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02B3E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02B3E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02B3E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02B3E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02B3E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02B3E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02B3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02B3E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2B3E"/>
                </a:solidFill>
                <a:latin typeface="Arial"/>
                <a:ea typeface="Arial"/>
                <a:cs typeface="Arial"/>
              </a:rPr>
              <a:t>Conclusions and next steps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445218-0197-46D7-9AB7-97CE3D0E2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49530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1">
                <a:solidFill>
                  <a:srgbClr val="607A89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607A89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607A89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607A89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607A89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607A89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607A89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607A89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607A89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607A8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607A8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07A89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4C1474-84A0-4807-A6A1-CE0030395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23950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C2D9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429255-2413-4235-AD0D-3A787C29A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62100"/>
            <a:ext cx="104775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550" b="1">
                <a:solidFill>
                  <a:srgbClr val="102B3E"/>
                </a:solidFill>
                <a:latin typeface="Arial"/>
                <a:ea typeface="Arial"/>
                <a:cs typeface="Arial"/>
              </a:defRPr>
            </a:defPPr>
            <a:lvl1pPr>
              <a:defRPr sz="2550" b="1">
                <a:solidFill>
                  <a:srgbClr val="102B3E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102B3E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102B3E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102B3E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102B3E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102B3E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102B3E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102B3E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102B3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02B3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B3E"/>
                </a:solidFill>
                <a:latin typeface="Arial"/>
                <a:ea typeface="Arial"/>
                <a:cs typeface="Arial"/>
              </a:rPr>
              <a:t>The filter suppresses known signatures but has substantial blind spots and false positives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4ECB59-E206-4917-A178-A78C80186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67025"/>
            <a:ext cx="102870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143248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43248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43248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43248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43248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43248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43248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43248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43248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4324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228600" indent="-114300">
              <a:spcAft>
                <a:spcPts val="1300"/>
              </a:spcAft>
              <a:buChar char="•"/>
              <a:defRPr sz="1875" b="0">
                <a:solidFill>
                  <a:srgbClr val="143248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43248"/>
                </a:solidFill>
                <a:latin typeface="Arial"/>
                <a:ea typeface="Arial"/>
                <a:cs typeface="Arial"/>
              </a:rPr>
              <a:t>Expand to independent data, human grading, larger models and multi-turn tests</a:t>
            </a:r>
          </a:p>
          <a:p xmlns:a="http://schemas.openxmlformats.org/drawingml/2006/main">
            <a:pPr marL="228600" indent="-114300">
              <a:spcAft>
                <a:spcPts val="1300"/>
              </a:spcAft>
              <a:buChar char="•"/>
              <a:defRPr sz="1875" b="0">
                <a:solidFill>
                  <a:srgbClr val="143248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43248"/>
                </a:solidFill>
                <a:latin typeface="Arial"/>
                <a:ea typeface="Arial"/>
                <a:cs typeface="Arial"/>
              </a:rPr>
              <a:t>Evaluate output moderation and task completion as separate properties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A8C986-497E-4AAB-BE8C-E0394F4C6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71975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167C9D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167C9D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167C9D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167C9D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167C9D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167C9D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167C9D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167C9D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167C9D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167C9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67C9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67C9D"/>
                </a:solidFill>
                <a:latin typeface="Arial"/>
                <a:ea typeface="Arial"/>
                <a:cs typeface="Arial"/>
              </a:rPr>
              <a:t>References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188571-DB68-4FF7-8D05-6E6817080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10125"/>
            <a:ext cx="10620375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275" b="0">
                <a:solidFill>
                  <a:srgbClr val="607A89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607A89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607A89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607A89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607A89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607A89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607A89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607A89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607A89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607A8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A8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07A89"/>
                </a:solidFill>
                <a:latin typeface="Arial"/>
                <a:ea typeface="Arial"/>
                <a:cs typeface="Arial"/>
              </a:rPr>
              <a:t>Xin et al., ACL Findings 2026, doi:10.18653/v1/2026.findings-acl.20</a:t>
            </a:r>
          </a:p>
          <a:p xmlns:a="http://schemas.openxmlformats.org/drawingml/2006/main">
            <a:pPr>
              <a:defRPr sz="1275" b="0">
                <a:solidFill>
                  <a:srgbClr val="607A8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07A89"/>
                </a:solidFill>
                <a:latin typeface="Arial"/>
                <a:ea typeface="Arial"/>
                <a:cs typeface="Arial"/>
              </a:rPr>
              <a:t>NVIDIA garak: github.com/NVIDIA/garak</a:t>
            </a:r>
          </a:p>
          <a:p xmlns:a="http://schemas.openxmlformats.org/drawingml/2006/main">
            <a:pPr>
              <a:defRPr sz="1275" b="0">
                <a:solidFill>
                  <a:srgbClr val="607A8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07A89"/>
                </a:solidFill>
                <a:latin typeface="Arial"/>
                <a:ea typeface="Arial"/>
                <a:cs typeface="Arial"/>
              </a:rPr>
              <a:t>Qwen model: huggingface.co/Qwen/Qwen2.5-0.5B-Instruct</a:t>
            </a:r>
          </a:p>
          <a:p xmlns:a="http://schemas.openxmlformats.org/drawingml/2006/main">
            <a:pPr>
              <a:defRPr sz="1275" b="0">
                <a:solidFill>
                  <a:srgbClr val="607A8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07A89"/>
                </a:solidFill>
                <a:latin typeface="Arial"/>
                <a:ea typeface="Arial"/>
                <a:cs typeface="Arial"/>
              </a:rPr>
              <a:t>Perez and Ribeiro, Ignore Previous Prompt, arXiv:2211.09527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9C3D33-CB73-4431-9E0E-40FB22DFB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38825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1">
                <a:solidFill>
                  <a:srgbClr val="167C9D"/>
                </a:solidFill>
                <a:latin typeface="Arial"/>
                <a:ea typeface="Arial"/>
                <a:cs typeface="Arial"/>
              </a:defRPr>
            </a:defPPr>
            <a:lvl1pPr>
              <a:defRPr sz="1425" b="1">
                <a:solidFill>
                  <a:srgbClr val="167C9D"/>
                </a:solidFill>
                <a:latin typeface="Arial"/>
                <a:ea typeface="Arial"/>
                <a:cs typeface="Arial"/>
              </a:defRPr>
            </a:lvl1pPr>
            <a:lvl2pPr>
              <a:defRPr sz="1425" b="1">
                <a:solidFill>
                  <a:srgbClr val="167C9D"/>
                </a:solidFill>
                <a:latin typeface="Arial"/>
                <a:ea typeface="Arial"/>
                <a:cs typeface="Arial"/>
              </a:defRPr>
            </a:lvl2pPr>
            <a:lvl3pPr>
              <a:defRPr sz="1425" b="1">
                <a:solidFill>
                  <a:srgbClr val="167C9D"/>
                </a:solidFill>
                <a:latin typeface="Arial"/>
                <a:ea typeface="Arial"/>
                <a:cs typeface="Arial"/>
              </a:defRPr>
            </a:lvl3pPr>
            <a:lvl4pPr>
              <a:defRPr sz="1425" b="1">
                <a:solidFill>
                  <a:srgbClr val="167C9D"/>
                </a:solidFill>
                <a:latin typeface="Arial"/>
                <a:ea typeface="Arial"/>
                <a:cs typeface="Arial"/>
              </a:defRPr>
            </a:lvl4pPr>
            <a:lvl5pPr>
              <a:defRPr sz="1425" b="1">
                <a:solidFill>
                  <a:srgbClr val="167C9D"/>
                </a:solidFill>
                <a:latin typeface="Arial"/>
                <a:ea typeface="Arial"/>
                <a:cs typeface="Arial"/>
              </a:defRPr>
            </a:lvl5pPr>
            <a:lvl6pPr>
              <a:defRPr sz="1425" b="1">
                <a:solidFill>
                  <a:srgbClr val="167C9D"/>
                </a:solidFill>
                <a:latin typeface="Arial"/>
                <a:ea typeface="Arial"/>
                <a:cs typeface="Arial"/>
              </a:defRPr>
            </a:lvl6pPr>
            <a:lvl7pPr>
              <a:defRPr sz="1425" b="1">
                <a:solidFill>
                  <a:srgbClr val="167C9D"/>
                </a:solidFill>
                <a:latin typeface="Arial"/>
                <a:ea typeface="Arial"/>
                <a:cs typeface="Arial"/>
              </a:defRPr>
            </a:lvl7pPr>
            <a:lvl8pPr>
              <a:defRPr sz="1425" b="1">
                <a:solidFill>
                  <a:srgbClr val="167C9D"/>
                </a:solidFill>
                <a:latin typeface="Arial"/>
                <a:ea typeface="Arial"/>
                <a:cs typeface="Arial"/>
              </a:defRPr>
            </a:lvl8pPr>
            <a:lvl9pPr>
              <a:defRPr sz="1425" b="1">
                <a:solidFill>
                  <a:srgbClr val="167C9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167C9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67C9D"/>
                </a:solidFill>
                <a:latin typeface="Arial"/>
                <a:ea typeface="Arial"/>
                <a:cs typeface="Arial"/>
              </a:rPr>
              <a:t>AI use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B3C7D1-FFE0-4C05-87AE-8A6930FDB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810250"/>
            <a:ext cx="9810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143248"/>
                </a:solidFill>
                <a:latin typeface="Arial"/>
                <a:ea typeface="Arial"/>
                <a:cs typeface="Arial"/>
              </a:defRPr>
            </a:defPPr>
            <a:lvl1pPr>
              <a:defRPr sz="1425" b="0">
                <a:solidFill>
                  <a:srgbClr val="143248"/>
                </a:solidFill>
                <a:latin typeface="Arial"/>
                <a:ea typeface="Arial"/>
                <a:cs typeface="Arial"/>
              </a:defRPr>
            </a:lvl1pPr>
            <a:lvl2pPr>
              <a:defRPr sz="1425" b="0">
                <a:solidFill>
                  <a:srgbClr val="143248"/>
                </a:solidFill>
                <a:latin typeface="Arial"/>
                <a:ea typeface="Arial"/>
                <a:cs typeface="Arial"/>
              </a:defRPr>
            </a:lvl2pPr>
            <a:lvl3pPr>
              <a:defRPr sz="1425" b="0">
                <a:solidFill>
                  <a:srgbClr val="143248"/>
                </a:solidFill>
                <a:latin typeface="Arial"/>
                <a:ea typeface="Arial"/>
                <a:cs typeface="Arial"/>
              </a:defRPr>
            </a:lvl3pPr>
            <a:lvl4pPr>
              <a:defRPr sz="1425" b="0">
                <a:solidFill>
                  <a:srgbClr val="143248"/>
                </a:solidFill>
                <a:latin typeface="Arial"/>
                <a:ea typeface="Arial"/>
                <a:cs typeface="Arial"/>
              </a:defRPr>
            </a:lvl4pPr>
            <a:lvl5pPr>
              <a:defRPr sz="1425" b="0">
                <a:solidFill>
                  <a:srgbClr val="143248"/>
                </a:solidFill>
                <a:latin typeface="Arial"/>
                <a:ea typeface="Arial"/>
                <a:cs typeface="Arial"/>
              </a:defRPr>
            </a:lvl5pPr>
            <a:lvl6pPr>
              <a:defRPr sz="1425" b="0">
                <a:solidFill>
                  <a:srgbClr val="143248"/>
                </a:solidFill>
                <a:latin typeface="Arial"/>
                <a:ea typeface="Arial"/>
                <a:cs typeface="Arial"/>
              </a:defRPr>
            </a:lvl6pPr>
            <a:lvl7pPr>
              <a:defRPr sz="1425" b="0">
                <a:solidFill>
                  <a:srgbClr val="143248"/>
                </a:solidFill>
                <a:latin typeface="Arial"/>
                <a:ea typeface="Arial"/>
                <a:cs typeface="Arial"/>
              </a:defRPr>
            </a:lvl7pPr>
            <a:lvl8pPr>
              <a:defRPr sz="1425" b="0">
                <a:solidFill>
                  <a:srgbClr val="143248"/>
                </a:solidFill>
                <a:latin typeface="Arial"/>
                <a:ea typeface="Arial"/>
                <a:cs typeface="Arial"/>
              </a:defRPr>
            </a:lvl8pPr>
            <a:lvl9pPr>
              <a:defRPr sz="1425" b="0">
                <a:solidFill>
                  <a:srgbClr val="14324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14324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43248"/>
                </a:solidFill>
                <a:latin typeface="Arial"/>
                <a:ea typeface="Arial"/>
                <a:cs typeface="Arial"/>
              </a:rPr>
              <a:t>Codex produced code, cases, automated runs, analysis and material drafts. Student review and final interpretation remain to be documented.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40DBA2-52DC-49EC-ADB8-FC001B879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1057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050" b="0">
                <a:solidFill>
                  <a:srgbClr val="607A89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607A89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607A89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607A89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607A89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607A89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607A89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607A89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607A89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607A8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07A8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07A89"/>
                </a:solidFill>
                <a:latin typeface="Arial"/>
                <a:ea typeface="Arial"/>
                <a:cs typeface="Arial"/>
              </a:rPr>
              <a:t>AISRA1301  Midterm Project  22 October 2026</a:t>
            </a:r>
          </a:p>
        </p:txBody>
      </p:sp>
    </p:spTree>
    <p:extLst>
      <p:ext uri="{BB962C8B-B14F-4D97-AF65-F5344CB8AC3E}">
        <p14:creationId xmlns:p14="http://schemas.microsoft.com/office/powerpoint/2010/main" val="82841132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2026-10-22T09:33:48.1190000Z</dcterms:created>
  <dcterms:modified xsi:type="dcterms:W3CDTF">2026-10-22T09:33:48.1190000Z</dcterms:modified>
</coreProperties>
</file>